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MY AI JOURNEY</a:t>
            </a:r>
          </a:p>
          <a:p>
            <a:pPr algn="ctr">
              <a:defRPr sz="3000" b="1">
                <a:solidFill>
                  <a:srgbClr val="FFFFFF"/>
                </a:solidFill>
              </a:defRPr>
            </a:pPr>
            <a:r>
              <a:t>Combining AI Factory &amp; Ambient CI/CD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From Single Agent to 3-Tier Cognitive Pyramid, Assembly Line Factory, and Multi-Time Scale Continuous Deployment with Zero Cognitive Load</a:t>
            </a:r>
          </a:p>
          <a:p>
            <a:br/>
            <a:pPr algn="ctr">
              <a:defRPr sz="1100" b="1">
                <a:solidFill>
                  <a:srgbClr val="10B981"/>
                </a:solidFill>
              </a:defRPr>
            </a:pPr>
            <a:r>
              <a:t>Project: For Each and Every  •  AWS us-east-2  •  Live in Production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EVOLUTION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The Evolutionary Journey of My AI Architecture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Visualizing the maturation from brute-force prompts to an industrial AI Factory and ambient CI/CD</a:t>
            </a:r>
          </a:p>
        </p:txBody>
      </p:sp>
      <p:pic>
        <p:nvPicPr>
          <p:cNvPr id="5" name="Picture 4" descr="diag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28655" cy="443766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212080"/>
            <a:ext cx="3291840" cy="132588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00">
                <a:solidFill>
                  <a:srgbClr val="0369A1"/>
                </a:solidFill>
              </a:defRPr>
            </a:pPr>
            <a:r>
              <a:t>Phase 1: Artisanal Prompting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Early single/multi-agent trial-and-error. Heavy mental babysitting, context rot over 50 turns, and fragile unverified outputs.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5212080"/>
            <a:ext cx="3291840" cy="132588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00">
                <a:solidFill>
                  <a:srgbClr val="6D28D9"/>
                </a:solidFill>
              </a:defRPr>
            </a:pPr>
            <a:r>
              <a:t>Phase 2: Cognitive AI Factory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The 3-Tier Cognitive Pyramid (Foundations, Executive Mind, Networked Brain) + assembly line with deterministic 48/48 CI matrix tests.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5212080"/>
            <a:ext cx="3291840" cy="1325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00">
                <a:solidFill>
                  <a:srgbClr val="047857"/>
                </a:solidFill>
              </a:defRPr>
            </a:pPr>
            <a:r>
              <a:t>Phase 3: Ambient Production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Multi-time scale CI/CD unifying Design and Operations continuously. Context DAGs, one-button rollbacks, and -88% human fatigue in AWS us-east-2.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MILESTONES 1 &amp;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From Lone Wolf to the Specialized Squad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Breaking out of the monolithic prompt trap by assembling cooperative specialized agents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MILESTONE 1: The Lone Wolf (Single Agent)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Concept: One giant prompt attempting to be architect, coder, tester, and deployer simultaneously.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The Pain Point: Context rot: as conversations grew past 50 turns, the lone agent forgot previous constraints and hallucinated.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Bottleneck: Linear thinking with 0 peer review. If the model made a false assumption at step 1, the entire codebase broke.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Analogy: Asking a single intern to design a skyscraper, draft legal contracts, and inspect plumbing alone.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280160"/>
            <a:ext cx="512064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0369A1"/>
                </a:solidFill>
              </a:defRPr>
            </a:pPr>
            <a:r>
              <a:t>MILESTONE 2: The Squad (Multi-Agent Systems)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Concept: Role specialization: Software Architect, Coder, and Test Engineer working in tandem.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The Breakthrough: Cross-verification: The Coder cannot push until the Test Engineer asserts exit code 0.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The Emerging Challenge: Coordination tax: Agents chatting endlessly in loops ('After you!' 'No, after you!') consuming massive tokens.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Key Discovery: Role division alone is not enough; agents require formal cognitive stratification and invariant governance.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MILESTONE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The Tiered Cognitive Pyramid (3 Tiers)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Stratifying intelligence into Foundations, Executive Mind, and Networked Brain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6D28D9"/>
                </a:solidFill>
              </a:defRPr>
            </a:pPr>
            <a:r>
              <a:t>The Cognitive Pyramid Principle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Why Stratify?: Biological brains don't fire millions of cortical neurons to blink an eye. Fast tasks stay in the spinal reflex; only novel dilemmas wake the prefrontal cortex.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Tier 0: Foundations: Sub-second skills (Storage, Senses, Motor). IMAGINES (Toy Bedrock), VETOES (WAF/Budgets), REMEMBERS (DynamoDB/ElastiCache), ACTS (Lambda), SIGNALS (EventBridge).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Tier 1: Executive Mind: One Agent Mind deliberative control. DECIDES (SQS Priority), PLANS (Step Functions), SELF-CHECKS (Circuit Breaker), GROUNDS ITSELF (CloudWatch).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Tier 2: Networked Brain: Multi-Agent Team coordination. CONNECTS (SNS Fan-out), SHARES (Mutex Board), STAYS STABLE (Quorum Vote).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Core Guarantee: Never wake a heavy frontier LLM to check if a semicolon or IAM policy is valid!</a:t>
            </a:r>
          </a:p>
        </p:txBody>
      </p:sp>
      <p:pic>
        <p:nvPicPr>
          <p:cNvPr id="6" name="Picture 5" descr="diag_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17469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MILESTONE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The AI Factory &amp; Assembly Worker BOM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Replacing artisanal prompt crafting with standardized assembly lines and certified parts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B45309"/>
                </a:solidFill>
              </a:defRPr>
            </a:pPr>
            <a:r>
              <a:t>The Industrial AI Paradigm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The Assembly Metaphor: Henry Ford built cars via standardized conveyor lines with strict stations. The AI Factory treats agents as specialized workers on an assembly line.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Parts Catalog (BOM): Agents are constructed by selecting modular building blocks from the 3-Tier Cognitive Pyramid (Bill of Materials).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Small-Step Units: Macro intents are decomposed into atomic micro-tasks (&lt;50 lines) with explicit OpenAPI contracts, eliminating context bloat.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Deterministic Gates: AI is probabilistic; code verification is deterministic. The factory wraps LLMs in rigid 48/48 CI matrix tests.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Certified Storage: Verified artifacts are sealed into Amazon S3 with KMS encryption and verifiable attestation receipts.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- Core Takeaway: Treat prompts like machine tooling, not creative writing!</a:t>
            </a:r>
          </a:p>
        </p:txBody>
      </p:sp>
      <p:pic>
        <p:nvPicPr>
          <p:cNvPr id="6" name="Picture 5" descr="diag_fa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0867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MILESTONE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Unifying Multi-Time Scales via Continuous CI/CD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Bridging the Design Long Time Scale and Operation Short Time Scale without release silos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047857"/>
                </a:solidFill>
              </a:defRPr>
            </a:pPr>
            <a:r>
              <a:t>Two Time Scales, One Loop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Design Long Time Scale: Agents are designed, prompted, tested, and assembled into worker teams. Occurs over hours to days in Git.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Operation Short Time Scale: Live events trigger Lambda ingress, Step Functions workflows, and Bedrock inference in milliseconds.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No Dev/QA/Prod Silos: Instead of rigid release freezes, CI/CD runs as a continuous nervous system with automated 48/48 test matrix verification.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Human-by-Exception: The pipeline deploys autonomously, pausing only if an architectural invariant or budget limit is breached.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- Closed-Loop Feedback: CloudWatch failure telemetry and circuit-breaker trips feed directly back into agent redesign as new evaluation suites.</a:t>
            </a:r>
          </a:p>
        </p:txBody>
      </p:sp>
      <p:pic>
        <p:nvPicPr>
          <p:cNvPr id="6" name="Picture 5" descr="diag_multitime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0848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MILESTONE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Ambient AI &amp; Minimizing Human Cognitive Load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Transforming human operators from stressed babysitters into confident executive directors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3840480" cy="25146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50">
                <a:solidFill>
                  <a:srgbClr val="DC2626"/>
                </a:solidFill>
              </a:defRPr>
            </a:pPr>
            <a:r>
              <a:t>OLD WAY: The Babysitting Trap</a:t>
            </a:r>
          </a:p>
          <a:p>
            <a:pPr>
              <a:defRPr sz="900">
                <a:solidFill>
                  <a:srgbClr val="991B1B"/>
                </a:solidFill>
              </a:defRPr>
            </a:pPr>
            <a:r>
              <a:t>- Context Exhaustion: Pasting stack traces, re-reading code diffs, constant re-prompting.</a:t>
            </a:r>
          </a:p>
          <a:p>
            <a:pPr>
              <a:defRPr sz="900">
                <a:solidFill>
                  <a:srgbClr val="991B1B"/>
                </a:solidFill>
              </a:defRPr>
            </a:pPr>
            <a:r>
              <a:t>- Manual Babysitting: Anxiously inspecting every single line &amp; syntax output.</a:t>
            </a:r>
          </a:p>
          <a:p>
            <a:pPr>
              <a:defRPr sz="900">
                <a:solidFill>
                  <a:srgbClr val="991B1B"/>
                </a:solidFill>
              </a:defRPr>
            </a:pPr>
            <a:r>
              <a:t>- Mental Burnout: 40+ context switches/hour causing extreme cognitive fatigue.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86200"/>
            <a:ext cx="3840480" cy="25603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150">
                <a:solidFill>
                  <a:srgbClr val="059669"/>
                </a:solidFill>
              </a:defRPr>
            </a:pPr>
            <a:r>
              <a:t>NEW WAY: Ambient Autonomy</a:t>
            </a:r>
          </a:p>
          <a:p>
            <a:pPr>
              <a:defRPr sz="900">
                <a:solidFill>
                  <a:srgbClr val="065F46"/>
                </a:solidFill>
              </a:defRPr>
            </a:pPr>
            <a:r>
              <a:t>- Executive Intent: Human gives high-level directive: 'Ship it' or 'Proceed'.</a:t>
            </a:r>
          </a:p>
          <a:p>
            <a:pPr>
              <a:defRPr sz="900">
                <a:solidFill>
                  <a:srgbClr val="065F46"/>
                </a:solidFill>
              </a:defRPr>
            </a:pPr>
            <a:r>
              <a:t>- Context DAG &amp; Skills: Zero token bloat; successful patterns become permanent SKILL.md.</a:t>
            </a:r>
          </a:p>
          <a:p>
            <a:pPr>
              <a:defRPr sz="900">
                <a:solidFill>
                  <a:srgbClr val="065F46"/>
                </a:solidFill>
              </a:defRPr>
            </a:pPr>
            <a:r>
              <a:t>- Reversible Safety: One-button rollback safety net + signed cryptographic receipts.</a:t>
            </a:r>
          </a:p>
          <a:p>
            <a:pPr>
              <a:defRPr sz="900">
                <a:solidFill>
                  <a:srgbClr val="065F46"/>
                </a:solidFill>
              </a:defRPr>
            </a:pPr>
            <a:r>
              <a:t>- Proven Result: -88% human cognitive burden eliminated in daily engineering!</a:t>
            </a:r>
          </a:p>
        </p:txBody>
      </p:sp>
      <p:pic>
        <p:nvPicPr>
          <p:cNvPr id="7" name="Picture 6" descr="diag_ambient_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399381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01168"/>
            <a:ext cx="16459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TECH SHOWCASE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109728"/>
            <a:ext cx="8961120" cy="868680"/>
          </a:xfrm>
          <a:prstGeom prst="rect">
            <a:avLst/>
          </a:prstGeom>
          <a:noFill/>
        </p:spPr>
        <p:txBody>
          <a:bodyPr wrap="square" lIns="182880" rIns="182880" bIns="182880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Production Tech Stack &amp; Cloud Architecture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Real-world infrastructure connecting client reflex, CI/CD factory, and AWS us-east-2 (966273137102)</a:t>
            </a:r>
          </a:p>
        </p:txBody>
      </p:sp>
      <p:pic>
        <p:nvPicPr>
          <p:cNvPr id="5" name="Picture 4" descr="diag_tech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498079" cy="385415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234440"/>
            <a:ext cx="3047695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200">
                <a:solidFill>
                  <a:srgbClr val="0369A1"/>
                </a:solidFill>
              </a:defRPr>
            </a:pPr>
            <a:r>
              <a:t>Architectural Guarantees</a:t>
            </a:r>
          </a:p>
          <a:p>
            <a:br/>
            <a:pPr>
              <a:defRPr b="1" sz="950">
                <a:solidFill>
                  <a:srgbClr val="0284C7"/>
                </a:solidFill>
              </a:defRPr>
            </a:pPr>
            <a:r>
              <a:t>Client Reflex (L1)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Local WebGPU (WebLLM) and PyScript WASM absorb routine syntax probes in-browser.</a:t>
            </a:r>
          </a:p>
          <a:p>
            <a:br/>
            <a:pPr>
              <a:defRPr b="1" sz="950">
                <a:solidFill>
                  <a:srgbClr val="7C3AED"/>
                </a:solidFill>
              </a:defRPr>
            </a:pPr>
            <a:r>
              <a:t>GitHub Factory (L2)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48/48 CI matrix tests, CodeQL scans, and high-signal PR decision cards.</a:t>
            </a:r>
          </a:p>
          <a:p>
            <a:br/>
            <a:pPr>
              <a:defRPr b="1" sz="950">
                <a:solidFill>
                  <a:srgbClr val="059669"/>
                </a:solidFill>
              </a:defRPr>
            </a:pPr>
            <a:r>
              <a:t>AWS us-east-2 (L3)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Step Functions (cosmos-cicd-ai-pipeline-sfn) executing Lambda &amp; Amazon Bedrock Claude Sonnet 4.6.</a:t>
            </a:r>
          </a:p>
          <a:p>
            <a:br/>
            <a:pPr>
              <a:defRPr b="1" sz="950">
                <a:solidFill>
                  <a:srgbClr val="D97706"/>
                </a:solidFill>
              </a:defRPr>
            </a:pPr>
            <a:r>
              <a:t>Durable Security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Amazon S3 KMS encryption with signed execution receipts and atomic rollback.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500" b="1">
                <a:solidFill>
                  <a:srgbClr val="34D399"/>
                </a:solidFill>
              </a:defRPr>
            </a:pPr>
            <a:r>
              <a:t>THE NEW PARADIGM: AI FACTORY + AMBIENT CI/CD</a:t>
            </a:r>
          </a:p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AI Factory Builds the Minds. Ambient CI/CD Operates Them.</a:t>
            </a:r>
          </a:p>
          <a:p>
            <a:br/>
            <a:pPr algn="ctr">
              <a:defRPr sz="1150">
                <a:solidFill>
                  <a:srgbClr val="94A3B8"/>
                </a:solidFill>
              </a:defRPr>
            </a:pPr>
            <a:r>
              <a:t>By unbundling cognition into a 3-tier pyramid, enforcing industrial assembly lines with atomic contracts (&lt;50 lines),</a:t>
            </a:r>
            <a:br/>
            <a:r>
              <a:t>and bridging design and operations continuously, I have eliminated 88% of human cognitive friction.</a:t>
            </a:r>
            <a:br/>
          </a:p>
          <a:p>
            <a:pPr algn="ctr">
              <a:defRPr sz="1100" b="1">
                <a:solidFill>
                  <a:srgbClr val="38BDF8"/>
                </a:solidFill>
              </a:defRPr>
            </a:pPr>
            <a:r>
              <a:t>• Live Cloud Studio &amp; CI/CD: cosmosanalytics.github.io/AWS/</a:t>
            </a:r>
            <a:br/>
            <a:r>
              <a:t>• AI Factory &amp; Assembly Canvas: cosmosanalytics.github.io/uat-copilot-local/</a:t>
            </a:r>
            <a:br/>
            <a:r>
              <a:t>• Production AWS Project: For Each and Every (us-east-2 • 966273137102)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