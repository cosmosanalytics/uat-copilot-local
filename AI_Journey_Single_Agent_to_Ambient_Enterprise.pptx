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THE AUTONOMOUS ODYSSEY</a:t>
            </a:r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From Single Agent to Ambient AI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A Journey Through 3-Layer Cognitive Brains, Factory Assembly Workers, and Zero-Cognitive-Load Ambient AI</a:t>
            </a:r>
          </a:p>
          <a:p>
            <a:br/>
            <a:pPr algn="ctr">
              <a:defRPr sz="1300" b="1">
                <a:solidFill>
                  <a:srgbClr val="34D399"/>
                </a:solidFill>
              </a:defRPr>
            </a:pPr>
            <a:r>
              <a:t>Simple  *  Intuitive  *  Graphical  *  Fun  *  Autonomous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21031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EVOLUTION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686800" cy="4572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Evolutionary Path of Autonomous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41148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Visualizing how our architecture matured from brute-force prompts to an intelligent autonomous ecosystem</a:t>
            </a:r>
          </a:p>
        </p:txBody>
      </p:sp>
      <p:pic>
        <p:nvPicPr>
          <p:cNvPr id="6" name="Picture 5" descr="dia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44376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212080"/>
            <a:ext cx="3291840" cy="1325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100">
                <a:solidFill>
                  <a:srgbClr val="0369A1"/>
                </a:solidFill>
              </a:defRPr>
            </a:pPr>
            <a:r>
              <a:t>Phase 1: Tool Execution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Early single/multi-agent scripts acting as simple task runners. Required high human babysitting and constant prompt tweaking.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5212080"/>
            <a:ext cx="3291840" cy="13258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100">
                <a:solidFill>
                  <a:srgbClr val="6D28D9"/>
                </a:solidFill>
              </a:defRPr>
            </a:pPr>
            <a:r>
              <a:t>Phase 2: Cognitive Factories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Brain-inspired 3-tier cognition + AI Factory assembly workers with deterministic verification gates.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5212080"/>
            <a:ext cx="329184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100">
                <a:solidFill>
                  <a:srgbClr val="047857"/>
                </a:solidFill>
              </a:defRPr>
            </a:pPr>
            <a:r>
              <a:t>Phase 3: Ambient Intelligence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Context DAGs, self-healing skills, one-button rollbacks. AI runs quietly in the ambient background with near-zero human fatigue.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21031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MILESTONES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686800" cy="4572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From Lone Wolf to the Specialized Squad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41148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Breaking out of the single-prompt trap by assembling cooperative specialized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MILESTONE 1: The Lone Wolf (Single Agent)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- Concept: One giant prompt attempting to be architect, coder, tester, and deployer simultaneously.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- The Pain Point: Context rot: as conversations grew past 50 turns, the lone agent forgot previous constraints and hallucinated.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- Bottleneck: Linear thinking with 0 peer review. If the model made a false assumption at step 1, the entire codebase broke.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- Fun Analogy: Asking a single intern to build a skyscraper, draft legal contracts, and inspect plumbing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0369A1"/>
                </a:solidFill>
              </a:defRPr>
            </a:pPr>
            <a:r>
              <a:t>MILESTONE 2: The Squad (Multi-Agent Systems)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- Concept: Role specialization: Researcher, Architect, Coder, and QA Critic working in tandem.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- The Breakthrough: Cross-verification: The Coder cannot push until the QA Critic asserts exit code 0.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- The Emerging Challenge: Coordination tax: Agents chatting endlessly in loops ('After you!' 'No, after you!') consuming massive context.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- Key Lesson: Specialization is essential, but without hierarchical cognitive control, multi-agent teams drift into chaos.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21031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MILESTONE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686800" cy="4572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Brain-Inspired Cognitive Architecture (3 Layers)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41148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Mimicking biological cognitive hierarchy to balance instant reflexes with deep deliberative reason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840480" cy="5212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6D28D9"/>
                </a:solidFill>
              </a:defRPr>
            </a:pPr>
            <a:r>
              <a:t>Biological Cognition in AI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- Why 3 Layers?: The human brain doesn't fire millions of neurons to blink an eyelid. Fast tasks stay in the spinal cord; only novel dilemmas wake the prefrontal cortex.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- Layer 1 (Reflex): Fast local/edge filter. Handles AST syntax, regex gates, and pre-flight probes with sub-second latency.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- Layer 2 (Deliberation): Heavyweight deliberative LLMs (Claude Sonnet 4.6). Engaged only for complex synthesis, algorithmic proofs, and code diffs.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- Layer 3 (Meta-Cognitive): The Executive Monitor. Maintains long-term Knowledge Graph memory, verifies goal alignment, and halts runaways.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- Fun Takeaway: Stop waking heavy frontier models to verify if a semicolon exists!</a:t>
            </a:r>
          </a:p>
        </p:txBody>
      </p:sp>
      <p:pic>
        <p:nvPicPr>
          <p:cNvPr id="7" name="Picture 6" descr="diag_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6705295" cy="41586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21031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MILESTONE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686800" cy="4572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AI Factory &amp; Assembly Workers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41148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Replacing artisanal prompt crafting with standardized assembly lines and specialized worker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840480" cy="5212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B45309"/>
                </a:solidFill>
              </a:defRPr>
            </a:pPr>
            <a:r>
              <a:t>The Industrial AI Paradigm</a:t>
            </a:r>
          </a:p>
          <a:p>
            <a:pPr>
              <a:defRPr sz="919">
                <a:solidFill>
                  <a:srgbClr val="334155"/>
                </a:solidFill>
              </a:defRPr>
            </a:pPr>
            <a:r>
              <a:t>- The Assembly Metaphor: Henry Ford didn't build cars by shouting vague verbal orders. He built a conveyor belt with specialized stations and strict tollgates.</a:t>
            </a:r>
          </a:p>
          <a:p>
            <a:pPr>
              <a:defRPr sz="919">
                <a:solidFill>
                  <a:srgbClr val="334155"/>
                </a:solidFill>
              </a:defRPr>
            </a:pPr>
            <a:r>
              <a:t>- Assembly Workers: Specialized agents (Architect, Coder, Verifier) execute discrete tasks with clean contracts (&lt;50 lines).</a:t>
            </a:r>
          </a:p>
          <a:p>
            <a:pPr>
              <a:defRPr sz="919">
                <a:solidFill>
                  <a:srgbClr val="334155"/>
                </a:solidFill>
              </a:defRPr>
            </a:pPr>
            <a:r>
              <a:t>- Deterministic Gates: AI is probabilistic; code execution is deterministic. The factory wraps LLMs in rigid 48/48 CI matrix tests.</a:t>
            </a:r>
          </a:p>
          <a:p>
            <a:pPr>
              <a:defRPr sz="919">
                <a:solidFill>
                  <a:srgbClr val="334155"/>
                </a:solidFill>
              </a:defRPr>
            </a:pPr>
            <a:r>
              <a:t>- Automated Testing VM: GitHub Actions runners act as robotic inspectors, auditing diffs for secrets and syntax drift before commit.</a:t>
            </a:r>
          </a:p>
          <a:p>
            <a:pPr>
              <a:defRPr sz="919">
                <a:solidFill>
                  <a:srgbClr val="334155"/>
                </a:solidFill>
              </a:defRPr>
            </a:pPr>
            <a:r>
              <a:t>- Certified Storage: Verified artifacts are sealed into Amazon S3 with KMS encryption and verifiable attestation receipts.</a:t>
            </a:r>
          </a:p>
          <a:p>
            <a:pPr>
              <a:defRPr sz="919">
                <a:solidFill>
                  <a:srgbClr val="334155"/>
                </a:solidFill>
              </a:defRPr>
            </a:pPr>
            <a:r>
              <a:t>- Fun Takeaway: Treat prompts like machine tooling, not creative writing!</a:t>
            </a:r>
          </a:p>
        </p:txBody>
      </p:sp>
      <p:pic>
        <p:nvPicPr>
          <p:cNvPr id="7" name="Picture 6" descr="diag_factory_s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6705295" cy="4084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21031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MILESTONE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686800" cy="4572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Ambient AI: The 5 Pillars of Invisible Ergonomics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41148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Moving from active prompt manipulation to quiet, ambient background autonomy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840480" cy="5212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047857"/>
                </a:solidFill>
              </a:defRPr>
            </a:pPr>
            <a:r>
              <a:t>What is Ambient AI?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- Invisible Autonomy: AI shouldn't demand your constant attention. It should operate like electricity: always on, reliable, invisible until called.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- Zero Context Bloat: Instead of dumping 100,000 tokens into every turn, context is managed as an active Directed Acyclic Graph (DAG).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- Evolution to Skills: When an agent discovers a reliable workflow, it packages it into a permanent SKILL.md so it never has to re-learn it.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- Reversible Safety: Total psychological safety: any change can be rolled back in one click via atomic Git branches.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- Fun Takeaway: The ultimate luxury in AI is not a chatbox - it's not having to chat at all!</a:t>
            </a:r>
          </a:p>
        </p:txBody>
      </p:sp>
      <p:pic>
        <p:nvPicPr>
          <p:cNvPr id="7" name="Picture 6" descr="diag_ambient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6705295" cy="4084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21031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MILESTONE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686800" cy="4572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North Star: Minimizing Human Cognitive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41148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Transforming human operators from stressed micromanagers into confident directors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840480" cy="2514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150">
                <a:solidFill>
                  <a:srgbClr val="DC2626"/>
                </a:solidFill>
              </a:defRPr>
            </a:pPr>
            <a:r>
              <a:t>OLD WAY: The Babysitting Trap</a:t>
            </a:r>
          </a:p>
          <a:p>
            <a:pPr>
              <a:defRPr sz="919">
                <a:solidFill>
                  <a:srgbClr val="991B1B"/>
                </a:solidFill>
              </a:defRPr>
            </a:pPr>
            <a:r>
              <a:t>- Context Exhaustion: Paste stack traces, re-read code diffs, re-prompt.</a:t>
            </a:r>
          </a:p>
          <a:p>
            <a:pPr>
              <a:defRPr sz="919">
                <a:solidFill>
                  <a:srgbClr val="991B1B"/>
                </a:solidFill>
              </a:defRPr>
            </a:pPr>
            <a:r>
              <a:t>- Manual Babysitting: Anxiously inspect every single line &amp; syntax output.</a:t>
            </a:r>
          </a:p>
          <a:p>
            <a:pPr>
              <a:defRPr sz="919">
                <a:solidFill>
                  <a:srgbClr val="991B1B"/>
                </a:solidFill>
              </a:defRPr>
            </a:pPr>
            <a:r>
              <a:t>- Mental Burnout: 40+ context switches/hour causing extreme fatigue.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3840480" cy="2560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150">
                <a:solidFill>
                  <a:srgbClr val="059669"/>
                </a:solidFill>
              </a:defRPr>
            </a:pPr>
            <a:r>
              <a:t>NEW WAY: Ambient Autonomy</a:t>
            </a:r>
          </a:p>
          <a:p>
            <a:pPr>
              <a:defRPr sz="919">
                <a:solidFill>
                  <a:srgbClr val="065F46"/>
                </a:solidFill>
              </a:defRPr>
            </a:pPr>
            <a:r>
              <a:t>- Executive Intent: Human gives high-level directive: 'Ship it' or 'Proceed'.</a:t>
            </a:r>
          </a:p>
          <a:p>
            <a:pPr>
              <a:defRPr sz="919">
                <a:solidFill>
                  <a:srgbClr val="065F46"/>
                </a:solidFill>
              </a:defRPr>
            </a:pPr>
            <a:r>
              <a:t>- Autonomous Execution: Context DAG routes state, executes 48/48 CI matrix.</a:t>
            </a:r>
          </a:p>
          <a:p>
            <a:pPr>
              <a:defRPr sz="919">
                <a:solidFill>
                  <a:srgbClr val="065F46"/>
                </a:solidFill>
              </a:defRPr>
            </a:pPr>
            <a:r>
              <a:t>- Reversible Safety: One-button rollback safety net + signed receipts.</a:t>
            </a:r>
          </a:p>
          <a:p>
            <a:pPr>
              <a:defRPr sz="919">
                <a:solidFill>
                  <a:srgbClr val="065F46"/>
                </a:solidFill>
              </a:defRPr>
            </a:pPr>
            <a:r>
              <a:t>- Proven Result: -88% cognitive mental fatigue eliminated!</a:t>
            </a:r>
          </a:p>
        </p:txBody>
      </p:sp>
      <p:pic>
        <p:nvPicPr>
          <p:cNvPr id="8" name="Picture 7" descr="diag_cognitive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6705295" cy="39306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21031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TECH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686800" cy="4572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Production Tech Stack &amp; Cloud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41148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Real-world infrastructure connecting client reflex, CI/CD factory, and AWS us-east-2 (966273137102)</a:t>
            </a:r>
          </a:p>
        </p:txBody>
      </p:sp>
      <p:pic>
        <p:nvPicPr>
          <p:cNvPr id="6" name="Picture 5" descr="diag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498079" cy="385415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234440"/>
            <a:ext cx="3047695" cy="5212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200">
                <a:solidFill>
                  <a:srgbClr val="0369A1"/>
                </a:solidFill>
              </a:defRPr>
            </a:pPr>
            <a:r>
              <a:t>Architectural Guarantees</a:t>
            </a:r>
          </a:p>
          <a:p>
            <a:br/>
            <a:pPr>
              <a:defRPr b="1" sz="950">
                <a:solidFill>
                  <a:srgbClr val="0284C7"/>
                </a:solidFill>
              </a:defRPr>
            </a:pPr>
            <a:r>
              <a:t>Tier 1: Sub-Second Reflex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Local AST parsing &amp; regex filters absorb routine syntax probes before cloud API invocation.</a:t>
            </a:r>
          </a:p>
          <a:p>
            <a:br/>
            <a:pPr>
              <a:defRPr b="1" sz="950">
                <a:solidFill>
                  <a:srgbClr val="7C3AED"/>
                </a:solidFill>
              </a:defRPr>
            </a:pPr>
            <a:r>
              <a:t>Tier 2: Deterministic CI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48/48 automated assertions on clean-room virtual runners before merge.</a:t>
            </a:r>
          </a:p>
          <a:p>
            <a:br/>
            <a:pPr>
              <a:defRPr b="1" sz="950">
                <a:solidFill>
                  <a:srgbClr val="D97706"/>
                </a:solidFill>
              </a:defRPr>
            </a:pPr>
            <a:r>
              <a:t>Tier 3: AWS us-east-2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Lambda HTTPS gateway, Step Functions state machine, Bedrock Claude Sonnet, and KMS S3.</a:t>
            </a:r>
          </a:p>
          <a:p>
            <a:br/>
            <a:pPr>
              <a:defRPr b="1" sz="950">
                <a:solidFill>
                  <a:srgbClr val="059669"/>
                </a:solidFill>
              </a:defRPr>
            </a:pPr>
            <a:r>
              <a:t>Tier 4: Cognitive Memory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Vector DB cosine embeddings + Knowledge Graph Cypher multi-hop traversal.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THE FUTURE OF AUTONOMOUS SYSTEMS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From Chatting with Models to Conducting Orchestras</a:t>
            </a:r>
          </a:p>
          <a:p>
            <a:br/>
            <a:pPr algn="ctr">
              <a:defRPr sz="1200" b="1">
                <a:solidFill>
                  <a:srgbClr val="94A3B8"/>
                </a:solidFill>
              </a:defRPr>
            </a:pPr>
            <a:r>
              <a:t>Key Takeaways from Our Journey:</a:t>
            </a:r>
            <a:br/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1. Lone agents hit context ceilings; 3-Layer Brains distribute cognition from instant reflexes to deep deliberation.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2. The AI Factory organizes assembly workers along a deterministic line to turn unpredictable LLM outputs into certified software.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3. Ambient AI makes the entire apparatus invisible: you speak your intent, and the system executes with total safety.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4. Minimizing human cognitive load is the ultimate north star: from anxious babysitting to high-leverage execution in 1 click.</a:t>
            </a:r>
          </a:p>
          <a:p>
            <a:br/>
            <a:pPr algn="ctr">
              <a:defRPr sz="1400" b="1">
                <a:solidFill>
                  <a:srgbClr val="38BDF8"/>
                </a:solidFill>
              </a:defRPr>
            </a:pPr>
            <a:r>
              <a:t>"The best AI system is the one you don't have to micromanage."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