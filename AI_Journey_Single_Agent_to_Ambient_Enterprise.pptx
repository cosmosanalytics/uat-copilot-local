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THE AUTONOMOUS ODYSSEY</a:t>
            </a:r>
          </a:p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From Single Agent to Ambient AI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A Journey Through 3-Layer Cognitive Brains, Factory Assembly Workers, and Zero-Cognitive-Load Ambient AI</a:t>
            </a:r>
          </a:p>
          <a:p>
            <a:br/>
            <a:pPr algn="ctr">
              <a:defRPr sz="1300" b="1">
                <a:solidFill>
                  <a:srgbClr val="34D399"/>
                </a:solidFill>
              </a:defRPr>
            </a:pPr>
            <a:r>
              <a:t>Simple  *  Intuitive  *  Graphical  *  Fun  *  Autonomous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EVOLUTION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Evolutionary Path of Autonomous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Visualizing how our architecture matured from brute-force prompts to an intelligent autonomous ecosystem</a:t>
            </a:r>
          </a:p>
        </p:txBody>
      </p:sp>
      <p:pic>
        <p:nvPicPr>
          <p:cNvPr id="6" name="Picture 5" descr="dia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44376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212080"/>
            <a:ext cx="3291840" cy="13258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369A1"/>
                </a:solidFill>
              </a:defRPr>
            </a:pPr>
            <a:r>
              <a:t>Phase 1: Tool Execution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Early single/multi-agent scripts acting as simple task runners. Required high human babysitting and constant prompt tweaking.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5212080"/>
            <a:ext cx="3291840" cy="132588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6D28D9"/>
                </a:solidFill>
              </a:defRPr>
            </a:pPr>
            <a:r>
              <a:t>Phase 2: Cognitive Factories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Brain-inspired 3-tier cognition + AI Factory assembly workers with deterministic verification gates.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212080"/>
            <a:ext cx="3291840" cy="1325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47857"/>
                </a:solidFill>
              </a:defRPr>
            </a:pPr>
            <a:r>
              <a:t>Phase 3: Ambient Intelligence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Context DAGs, self-healing skills, one-button rollbacks. AI runs quietly in the ambient background with near-zero human fatigue.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MILESTONES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From Lone Wolf to the Specialized Squad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Breaking out of the single-prompt trap by assembling cooperative specialized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MILESTONE 1: The Lone Wolf (Single Agent)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Concept: One giant prompt attempting to be architect, coder, tester, and deployer simultaneously.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Pain Point: Context rot: as conversations grew past 50 turns, the lone agent forgot previous constraints and hallucinated.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Bottleneck: Linear thinking with 0 peer review. If the model made a false assumption at step 1, the entire codebase broke.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Fun Analogy: Asking a single intern to build a skyscraper, draft legal contracts, and inspect plumbing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12064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369A1"/>
                </a:solidFill>
              </a:defRPr>
            </a:pPr>
            <a:r>
              <a:t>MILESTONE 2: The Squad (Multi-Agent Systems)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Concept: Role specialization: Researcher, Architect, Coder, and QA Critic working in tandem.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Breakthrough: Cross-verification: The Coder cannot push until the QA Critic asserts exit code 0.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The Emerging Challenge: Coordination tax: Agents chatting endlessly in loops ('After you!' 'No, after you!') consuming massive context.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- Key Lesson: Specialization is essential, but without hierarchical cognitive control, multi-agent teams drift into chaos.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Brain-Inspired Cognitive Architecture (3 Layers)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Mimicking biological cognitive hierarchy to balance instant reflexes with deep deliberative reason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6D28D9"/>
                </a:solidFill>
              </a:defRPr>
            </a:pPr>
            <a:r>
              <a:t>Biological Cognition in AI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Why 3 Layers?: The human brain doesn't fire millions of neurons to blink an eyelid. Fast tasks stay in the spinal cord; only novel dilemmas wake the prefrontal cortex.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1 (Reflex): Fast local/edge filter. Handles AST syntax, regex gates, and pre-flight probes with sub-second latency.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2 (Deliberation): Heavyweight deliberative LLMs (Claude Sonnet 4.6). Engaged only for complex synthesis, algorithmic proofs, and code diffs.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Layer 3 (Meta-Cognitive): The Executive Monitor. Maintains long-term Knowledge Graph memory, verifies goal alignment, and halts runaways.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Fun Takeaway: Stop waking heavy frontier models to verify if a semicolon exists!</a:t>
            </a:r>
          </a:p>
        </p:txBody>
      </p:sp>
      <p:pic>
        <p:nvPicPr>
          <p:cNvPr id="7" name="Picture 6" descr="diag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1586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AI Factory: Industrializing Software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Replacing artisanal prompt crafting with standardized assembly lines and deterministic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B45309"/>
                </a:solidFill>
              </a:defRPr>
            </a:pPr>
            <a:r>
              <a:t>Industrializing Intelligence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The Factory Metaphor: Henry Ford didn't build cars by giving workers vague verbal instructions. He built a conveyor belt with specialized stations and rigorous tollgates.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Deterministic Gates: AI is probabilistic; code execution is deterministic. The factory wraps LLMs in rigid CI assertion matrices (48/48 checks).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Automated Testing VM: GitHub Actions ubuntu-latest runners act as robotic inspectors, auditing builds for secrets and syntax drift.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Cryptographic Storage: Verified artifacts are sealed into Amazon S3 with KMS encryption and return signed execution receipts.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Fun Takeaway: Treat prompts like machine tooling, not creative writing!</a:t>
            </a:r>
          </a:p>
        </p:txBody>
      </p:sp>
      <p:pic>
        <p:nvPicPr>
          <p:cNvPr id="7" name="Picture 6" descr="diag_factory_s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4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Worker to AI Factory: The Assembly Worker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Structuring autonomous assembly workers into a synchronized, deterministic production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291840" cy="51206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0284C7"/>
                </a:solidFill>
              </a:defRPr>
            </a:pPr>
            <a:r>
              <a:t>Architecture &amp; Contract Worker</a:t>
            </a:r>
          </a:p>
          <a:p>
            <a:pPr>
              <a:lnSpc>
                <a:spcPct val="130000"/>
              </a:lnSpc>
              <a:defRPr sz="950">
                <a:solidFill>
                  <a:srgbClr val="1E293B"/>
                </a:solidFill>
              </a:defRPr>
            </a:pPr>
            <a:r>
              <a:t>- Decomposes high-level intent into atomic technical specifications.</a:t>
            </a:r>
            <a:br/>
            <a:r>
              <a:t>- Establishes strict data schemas, interfaces, and component boundaries.</a:t>
            </a:r>
            <a:br/>
            <a:r>
              <a:t>- Ensures architectural integrity before code synthesis begins.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280160"/>
            <a:ext cx="3291840" cy="512064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7C3AED"/>
                </a:solidFill>
              </a:defRPr>
            </a:pPr>
            <a:r>
              <a:t>Synthesis &amp; Implementation Worker</a:t>
            </a:r>
          </a:p>
          <a:p>
            <a:pPr>
              <a:lnSpc>
                <a:spcPct val="130000"/>
              </a:lnSpc>
              <a:defRPr sz="950">
                <a:solidFill>
                  <a:srgbClr val="1E293B"/>
                </a:solidFill>
              </a:defRPr>
            </a:pPr>
            <a:r>
              <a:t>- Generates modular, single-responsibility code units (&lt;50 lines).</a:t>
            </a:r>
            <a:br/>
            <a:r>
              <a:t>- Runs live AST syntax checks and immediate unit test assertions.</a:t>
            </a:r>
            <a:br/>
            <a:r>
              <a:t>- Self-heals logic bugs through rapid feedback iterations.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280160"/>
            <a:ext cx="3291840" cy="51206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059669"/>
                </a:solidFill>
              </a:defRPr>
            </a:pPr>
            <a:r>
              <a:t>Automated Verification Worker</a:t>
            </a:r>
          </a:p>
          <a:p>
            <a:pPr>
              <a:lnSpc>
                <a:spcPct val="130000"/>
              </a:lnSpc>
              <a:defRPr sz="950">
                <a:solidFill>
                  <a:srgbClr val="1E293B"/>
                </a:solidFill>
              </a:defRPr>
            </a:pPr>
            <a:r>
              <a:t>- Executes complete 48/48 CI matrix tests across isolated environments.</a:t>
            </a:r>
            <a:br/>
            <a:r>
              <a:t>- Scans code diffs for secret leakage and boundary vulnerabilities.</a:t>
            </a:r>
            <a:br/>
            <a:r>
              <a:t>- Packages certified artifacts and generates verifiable execution receipts.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Ambient AI: The 5 Pillars of Invisible Ergonomics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Moving from active prompt manipulation to quiet, ambient background autonomy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047857"/>
                </a:solidFill>
              </a:defRPr>
            </a:pPr>
            <a:r>
              <a:t>What is Ambient AI?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Invisible Autonomy: AI shouldn't demand your constant attention. It should operate like electricity: always on, reliable, invisible until called.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Zero Context Bloat: Instead of dumping 100,000 tokens into every turn, context is managed as an active Directed Acyclic Graph (DAG).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Evolution to Skills: When an agent discovers a reliable workflow, it packages it into a permanent SKILL.md so it never has to re-learn it.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Reversible Safety: Total psychological safety: any change can be rolled back in one click via atomic Git branches.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- Fun Takeaway: The ultimate luxury in AI is not a chatbox - it's not having to chat at all!</a:t>
            </a:r>
          </a:p>
        </p:txBody>
      </p:sp>
      <p:pic>
        <p:nvPicPr>
          <p:cNvPr id="7" name="Picture 6" descr="diag_ambient_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40848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MILESTONE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The North Star: Minimizing Human Cognitive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Transforming human operators from stressed micromanagers into confident directors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840480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C2626"/>
                </a:solidFill>
              </a:defRPr>
            </a:pPr>
            <a:r>
              <a:t>The Babysitting Trap vs. Ambient Ease</a:t>
            </a:r>
          </a:p>
          <a:p>
            <a:br/>
            <a:pPr>
              <a:defRPr sz="900">
                <a:solidFill>
                  <a:srgbClr val="991B1B"/>
                </a:solidFill>
              </a:defRPr>
            </a:pPr>
            <a:r>
              <a:t>OLD WAY: Human Micromanager</a:t>
            </a:r>
            <a:br/>
            <a:r>
              <a:t>- Paste stack trace -&gt; read code -&gt; ask model</a:t>
            </a:r>
            <a:br/>
            <a:r>
              <a:t>- Copy snippet -&gt; test manually -&gt; hit syntax bug</a:t>
            </a:r>
            <a:br/>
            <a:r>
              <a:t>- Repeat 40 times per hour -&gt; Extreme mental fatigue</a:t>
            </a:r>
          </a:p>
          <a:p>
            <a:br/>
            <a:pPr>
              <a:defRPr sz="900">
                <a:solidFill>
                  <a:srgbClr val="065F46"/>
                </a:solidFill>
              </a:defRPr>
            </a:pPr>
            <a:r>
              <a:t>AMBIENT WAY: Executive Director</a:t>
            </a:r>
            <a:br/>
            <a:r>
              <a:t>- Human says: 'Proceed' or 'Ship it'</a:t>
            </a:r>
            <a:br/>
            <a:r>
              <a:t>- AI team evaluates DAG, runs CI matrix, pushes commit</a:t>
            </a:r>
            <a:br/>
            <a:r>
              <a:t>- Delivers signed receipt + status summary</a:t>
            </a:r>
            <a:br/>
            <a:r>
              <a:t>- 88% cognitive fatigue eliminated!</a:t>
            </a:r>
          </a:p>
        </p:txBody>
      </p:sp>
      <p:pic>
        <p:nvPicPr>
          <p:cNvPr id="7" name="Picture 6" descr="diag_cognitive_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40"/>
            <a:ext cx="6705295" cy="377333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103120" cy="2926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TECH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914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Production Tech Stack &amp; Live Cloud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Real-world infrastructure proven across GitHub Actions and AWS Project us-east-2 (966273137102)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284C7"/>
                </a:solidFill>
              </a:defRPr>
            </a:pPr>
            <a:r>
              <a:t>Reflex Execution Layer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Sub-second local execution for fast syntax parsing</a:t>
            </a:r>
            <a:br/>
            <a:r>
              <a:t>- Instant regex gates and pre-flight environment probes</a:t>
            </a:r>
            <a:br/>
            <a:r>
              <a:t>- Real-time telemetry packet visualizer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28016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7C3AED"/>
                </a:solidFill>
              </a:defRPr>
            </a:pPr>
            <a:r>
              <a:t>GitHub CI/CD Automation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- 4 Automated robotic jobs (AST, Secrets, Matrix, Tests)</a:t>
            </a:r>
            <a:br/>
            <a:r>
              <a:t>- ubuntu-latest continuous integration runners</a:t>
            </a:r>
            <a:br/>
            <a:r>
              <a:t>- Ed25519 SSH key signing for live Git pushes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28016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97706"/>
                </a:solidFill>
              </a:defRPr>
            </a:pPr>
            <a:r>
              <a:t>AWS Cloud Core (us-east-2)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Lambda HTTPS Gateway with SHA-256 header verification</a:t>
            </a:r>
            <a:br/>
            <a:r>
              <a:t>- Bedrock Claude Sonnet 4.6 Mantle Converse API</a:t>
            </a:r>
            <a:br/>
            <a:r>
              <a:t>- Step Functions state machines &amp; KMS S3 bucket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59669"/>
                </a:solidFill>
              </a:defRPr>
            </a:pPr>
            <a:r>
              <a:t>AI Knowledge &amp; Database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Vector Database with cosine similarity search</a:t>
            </a:r>
            <a:br/>
            <a:r>
              <a:t>- Knowledge Graph with Cypher multi-hop traversals</a:t>
            </a:r>
            <a:br/>
            <a:r>
              <a:t>- Context DAG memory indexing &amp; skill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93192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DC2626"/>
                </a:solidFill>
              </a:defRPr>
            </a:pPr>
            <a:r>
              <a:t>Deterministic Security Shield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Pre-flight regex auditor guarantees zero secret leakage</a:t>
            </a:r>
            <a:br/>
            <a:r>
              <a:t>- Cryptographic signature check for cloud dispatch</a:t>
            </a:r>
            <a:br/>
            <a:r>
              <a:t>- Isolated branch execution per worker task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931920"/>
            <a:ext cx="329184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475569"/>
                </a:solidFill>
              </a:defRPr>
            </a:pPr>
            <a:r>
              <a:t>Executive Synthesis</a:t>
            </a:r>
          </a:p>
          <a:p>
            <a:pPr>
              <a:lnSpc>
                <a:spcPct val="125000"/>
              </a:lnSpc>
              <a:defRPr sz="880">
                <a:solidFill>
                  <a:srgbClr val="334155"/>
                </a:solidFill>
              </a:defRPr>
            </a:pPr>
            <a:r>
              <a:t>- Automated 1-page visual summary guides</a:t>
            </a:r>
            <a:br/>
            <a:r>
              <a:t>- Cryptographic telemetry receipts</a:t>
            </a:r>
            <a:br/>
            <a:r>
              <a:t>- Autonomous audit logging and status streams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THE FUTURE OF AUTONOMOUS SYSTEMS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From Chatting with Models to Conducting Orchestras</a:t>
            </a:r>
          </a:p>
          <a:p>
            <a:br/>
            <a:pPr algn="ctr">
              <a:defRPr sz="1200" b="1">
                <a:solidFill>
                  <a:srgbClr val="94A3B8"/>
                </a:solidFill>
              </a:defRPr>
            </a:pPr>
            <a:r>
              <a:t>Key Takeaways from Our Journey:</a:t>
            </a:r>
            <a:br/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1. Lone agents hit context ceilings; 3-Layer Brains distribute cognition from instant reflexes to deep deliberation.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2. The AI Factory organizes assembly workers along a deterministic line to turn unpredictable LLM outputs into certified software.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3. Ambient AI makes the entire apparatus invisible: you speak your intent, and the system executes with total safety.</a:t>
            </a:r>
          </a:p>
          <a:p>
            <a:pPr algn="ctr">
              <a:defRPr sz="1100">
                <a:solidFill>
                  <a:srgbClr val="F1F5F9"/>
                </a:solidFill>
              </a:defRPr>
            </a:pPr>
            <a:r>
              <a:t>4. Minimizing human cognitive load is the ultimate north star: from anxious babysitting to high-leverage execution in 1 click.</a:t>
            </a:r>
          </a:p>
          <a:p>
            <a:br/>
            <a:pPr algn="ctr">
              <a:defRPr sz="1400" b="1">
                <a:solidFill>
                  <a:srgbClr val="38BDF8"/>
                </a:solidFill>
              </a:defRPr>
            </a:pPr>
            <a:r>
              <a:t>"The best AI system is the one you don't have to micromanage."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