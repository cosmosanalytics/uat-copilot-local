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THE AUTONOMOUS ODYSSEY</a:t>
            </a:r>
          </a:p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From Single Agent to Ambient AI Enterprise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A Journey Through 3-Layer Cognitive Brains, Factory Assembly Lines, S&amp;OP Organizations, and Zero-Cognitive-Load Ambient AI</a:t>
            </a:r>
          </a:p>
          <a:p>
            <a:br/>
            <a:pPr algn="ctr">
              <a:defRPr sz="1300" b="1">
                <a:solidFill>
                  <a:srgbClr val="34D399"/>
                </a:solidFill>
              </a:defRPr>
            </a:pPr>
            <a:r>
              <a:t>Simple  *  Intuitive  *  Graphical  *  Fun  *  Autonomous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01168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EVOLUTION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The 6 Eras of the Autonomous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Visualizing how our architecture matured from brute-force prompts to an intelligent autonomous organization</a:t>
            </a:r>
          </a:p>
        </p:txBody>
      </p:sp>
      <p:pic>
        <p:nvPicPr>
          <p:cNvPr id="6" name="Picture 5" descr="diag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44376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212080"/>
            <a:ext cx="3291840" cy="132588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369A1"/>
                </a:solidFill>
              </a:defRPr>
            </a:pPr>
            <a:r>
              <a:t>Phase 1: Tool Execution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Early single/multi-agent scripts acting as simple task runners. Required high human babysitting and constant prompt tweaking.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5212080"/>
            <a:ext cx="3291840" cy="132588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6D28D9"/>
                </a:solidFill>
              </a:defRPr>
            </a:pPr>
            <a:r>
              <a:t>Phase 2: Cognitive Factories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Brain-inspired 3-tier cognition + standardized assembly lines. S&amp;OP role division and deterministic verification gates.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5212080"/>
            <a:ext cx="3291840" cy="1325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47857"/>
                </a:solidFill>
              </a:defRPr>
            </a:pPr>
            <a:r>
              <a:t>Phase 3: Ambient Intelligence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Context DAGs, self-healing skills, one-button rollbacks. AI runs quietly in the ambient background with near-zero human fatigue.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01168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MILESTONES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From Lone Wolf to the Specialized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Breaking out of the single-prompt trap by assembling cooperative specialized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MILESTONE 1: The Lone Wolf (Single Agent)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Concept: One giant prompt attempting to be architect, coder, tester, and deployer simultaneously.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The Pain Point: Context rot: as conversations grew past 50 turns, the lone agent forgot previous constraints and hallucinated.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Bottleneck: Linear thinking with 0 peer review. If the model made a false assumption at step 1, the entire codebase broke.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Fun Analogy: Asking a single intern to build a skyscraper, draft legal contracts, and inspect plumbing alone.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369A1"/>
                </a:solidFill>
              </a:defRPr>
            </a:pPr>
            <a:r>
              <a:t>MILESTONE 2: The Squad (Multi-Agent Systems)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Concept: Role specialization: Researcher, Architect, Coder, and QA Critic working in tandem.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The Breakthrough: Cross-verification: The Coder cannot push until the QA Critic asserts exit code 0.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The Emerging Challenge: Coordination tax: Agents chatting endlessly in loops ('After you!' 'No, after you!') consuming massive tokens.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Key Lesson: Specialization is essential, but without hierarchical cognitive control, multi-agent teams drift into chaos.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01168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Brain-Inspired Cognitive Architecture (3 Layers)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Mimicking biological cognitive hierarchy to balance instant reflexes with deep deliberative reason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6D28D9"/>
                </a:solidFill>
              </a:defRPr>
            </a:pPr>
            <a:r>
              <a:t>Biological Cognition in AI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Why 3 Layers?: The human brain doesn't fire millions of neurons to blink an eyelid. Fast tasks stay in the spinal cord; only novel dilemmas wake the prefrontal cortex.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Layer 1 (Reflex): WebGPU in-browser + Groq LPU. Handles AST syntax, regex gates, and pre-flight probes at 0ms cost.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Layer 2 (Deliberation): Heavyweight LLMs (Claude Sonnet 4.6). Engaged only for complex synthesis, algorithmic proofs, and code diffs.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Layer 3 (Meta-Cognitive): The Executive Monitor. Keeps long-term Knowledge Graph memory, verifies goal alignment, and halts runaways.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Fun Takeaway: Stop burning $0.05 on cloud models to verify if a semicolon exists!</a:t>
            </a:r>
          </a:p>
        </p:txBody>
      </p:sp>
      <p:pic>
        <p:nvPicPr>
          <p:cNvPr id="7" name="Picture 6" descr="diag_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1586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01168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The AI Factory: Industrializing Software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Replacing artisanal prompt crafting with standardized assembly lines and deterministic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B45309"/>
                </a:solidFill>
              </a:defRPr>
            </a:pPr>
            <a:r>
              <a:t>Industrializing Intelligence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Factory Metaphor: Henry Ford didn't build cars by giving 10 workers vague verbal instructions. He built a conveyor belt with specialized stations and rigorous tollgates.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Deterministic Gates: AI is probabilistic; code execution is deterministic. The factory wraps LLMs in rigid CI assertion matrices (48/48 checks).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Automated Testing VM: GitHub Actions ubuntu-latest runners act as robotic inspectors, auditing builds for secrets and syntax drift.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Cryptographic Storage: Verified artifacts are sealed into Amazon S3 with KMS encryption and return signed execution receipts.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Fun Takeaway: Treat prompts like machine tooling, not creative writing!</a:t>
            </a:r>
          </a:p>
        </p:txBody>
      </p:sp>
      <p:pic>
        <p:nvPicPr>
          <p:cNvPr id="7" name="Picture 6" descr="diag_factory_s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48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01168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Organization of Workers: S&amp;OP Corporate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Structuring autonomous agents into cross-functional business departments with budgets and protocol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291840" cy="51206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0284C7"/>
                </a:solidFill>
              </a:defRPr>
            </a:pPr>
            <a:r>
              <a:t>Demand &amp; Capacity Planning Agent</a:t>
            </a:r>
          </a:p>
          <a:p>
            <a:pPr>
              <a:lnSpc>
                <a:spcPct val="130000"/>
              </a:lnSpc>
              <a:defRPr sz="950">
                <a:solidFill>
                  <a:srgbClr val="1E293B"/>
                </a:solidFill>
              </a:defRPr>
            </a:pPr>
            <a:r>
              <a:t>- Anticipates upcoming project workload and calculates token quotas.</a:t>
            </a:r>
            <a:br/>
            <a:r>
              <a:t>- Forecasts compute burst needs across local vs cloud models.</a:t>
            </a:r>
            <a:br/>
            <a:r>
              <a:t>- Balances team velocity against API rate limits and quotas.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280160"/>
            <a:ext cx="3291840" cy="512064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7C3AED"/>
                </a:solidFill>
              </a:defRPr>
            </a:pPr>
            <a:r>
              <a:t>Operational Assembly &amp; Step Functions</a:t>
            </a:r>
          </a:p>
          <a:p>
            <a:pPr>
              <a:lnSpc>
                <a:spcPct val="130000"/>
              </a:lnSpc>
              <a:defRPr sz="950">
                <a:solidFill>
                  <a:srgbClr val="1E293B"/>
                </a:solidFill>
              </a:defRPr>
            </a:pPr>
            <a:r>
              <a:t>- Converts business objectives into state machines and workflow graphs.</a:t>
            </a:r>
            <a:br/>
            <a:r>
              <a:t>- Dispatches specialized subagents with isolated branch workspaces.</a:t>
            </a:r>
            <a:br/>
            <a:r>
              <a:t>- Aggregates telemetry across GitHub Actions and AWS us-east-2.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280160"/>
            <a:ext cx="3291840" cy="51206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059669"/>
                </a:solidFill>
              </a:defRPr>
            </a:pPr>
            <a:r>
              <a:t>Finance, Security &amp; Cost Shield</a:t>
            </a:r>
          </a:p>
          <a:p>
            <a:pPr>
              <a:lnSpc>
                <a:spcPct val="130000"/>
              </a:lnSpc>
              <a:defRPr sz="950">
                <a:solidFill>
                  <a:srgbClr val="1E293B"/>
                </a:solidFill>
              </a:defRPr>
            </a:pPr>
            <a:r>
              <a:t>- Dual-Tier Spending Governance: Enforces $0 visitor demo safety net.</a:t>
            </a:r>
            <a:br/>
            <a:r>
              <a:t>- Unlocks live AWS Bedrock &amp; S3 only when Owner Passcode is verified.</a:t>
            </a:r>
            <a:br/>
            <a:r>
              <a:t>- Generates signed audit one-pagers for executive governance.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01168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Ambient AI: The 5 Pillars of Invisible Ergonomics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Moving from active prompt manipulation to quiet, ambient background autonomy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47857"/>
                </a:solidFill>
              </a:defRPr>
            </a:pPr>
            <a:r>
              <a:t>What is Ambient AI?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Invisible Autonomy: AI shouldn't demand your constant attention. It should operate like electricity in the wall: always on, reliable, invisible until called.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Zero Context Bloat: Instead of dumping 100,000 tokens into every turn, context is managed as an active Directed Acyclic Graph (DAG).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Evolution to Skills: When an agent discovers a reliable workflow, it packages it into a permanent SKILL.md so it never has to re-learn it.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Reversible Safety: Total psychological safety: any change can be rolled back in one click via atomic Git branches.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Fun Takeaway: The ultimate luxury in AI is not a chatbox - it's not having to chat at all!</a:t>
            </a:r>
          </a:p>
        </p:txBody>
      </p:sp>
      <p:pic>
        <p:nvPicPr>
          <p:cNvPr id="7" name="Picture 6" descr="diag_ambient_pill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48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01168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HUMAN ERGONOMICS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The North Star: Minimizing Human Cognitive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Transforming human operators from stressed micromanagers into confident directors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C2626"/>
                </a:solidFill>
              </a:defRPr>
            </a:pPr>
            <a:r>
              <a:t>The Babysitting Trap vs. Ambient Ease</a:t>
            </a:r>
          </a:p>
          <a:p>
            <a:br/>
            <a:pPr>
              <a:defRPr sz="900">
                <a:solidFill>
                  <a:srgbClr val="991B1B"/>
                </a:solidFill>
              </a:defRPr>
            </a:pPr>
            <a:r>
              <a:t>OLD WAY: Human Micromanager</a:t>
            </a:r>
            <a:br/>
            <a:r>
              <a:t>- Paste stack trace -&gt; read code -&gt; ask model</a:t>
            </a:r>
            <a:br/>
            <a:r>
              <a:t>- Copy snippet -&gt; test manually -&gt; hit syntax bug</a:t>
            </a:r>
            <a:br/>
            <a:r>
              <a:t>- Repeat 40 times per hour -&gt; Extreme mental fatigue</a:t>
            </a:r>
          </a:p>
          <a:p>
            <a:br/>
            <a:pPr>
              <a:defRPr sz="900">
                <a:solidFill>
                  <a:srgbClr val="065F46"/>
                </a:solidFill>
              </a:defRPr>
            </a:pPr>
            <a:r>
              <a:t>AMBIENT WAY: Executive Director</a:t>
            </a:r>
            <a:br/>
            <a:r>
              <a:t>- Human says: 'Proceed' or 'Ship it'</a:t>
            </a:r>
            <a:br/>
            <a:r>
              <a:t>- AI team evaluates DAG, runs CI matrix, pushes commit</a:t>
            </a:r>
            <a:br/>
            <a:r>
              <a:t>- Delivers signed receipt + PDF summary</a:t>
            </a:r>
            <a:br/>
            <a:r>
              <a:t>- 90% cognitive load eliminated!</a:t>
            </a:r>
          </a:p>
        </p:txBody>
      </p:sp>
      <p:pic>
        <p:nvPicPr>
          <p:cNvPr id="7" name="Picture 6" descr="diag_cognitive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377333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01168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TECH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Production Tech Stack &amp; Live Cloud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Real-world infrastructure proven across GitHub Actions and AWS Project us-east-2 (966273137102)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2918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284C7"/>
                </a:solidFill>
              </a:defRPr>
            </a:pPr>
            <a:r>
              <a:t>Client &amp; Reflex Layer</a:t>
            </a:r>
          </a:p>
          <a:p>
            <a:pPr>
              <a:lnSpc>
                <a:spcPct val="125000"/>
              </a:lnSpc>
              <a:defRPr sz="880">
                <a:solidFill>
                  <a:srgbClr val="334155"/>
                </a:solidFill>
              </a:defRPr>
            </a:pPr>
            <a:r>
              <a:t>- WebGPU in-browser shader acceleration</a:t>
            </a:r>
            <a:br/>
            <a:r>
              <a:t>- WebLLM local 360M inference ($0 cost)</a:t>
            </a:r>
            <a:br/>
            <a:r>
              <a:t>- Real-time Canvas telemetry packet visualizer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280160"/>
            <a:ext cx="32918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7C3AED"/>
                </a:solidFill>
              </a:defRPr>
            </a:pPr>
            <a:r>
              <a:t>GitHub CI/CD Automation</a:t>
            </a:r>
          </a:p>
          <a:p>
            <a:pPr>
              <a:lnSpc>
                <a:spcPct val="125000"/>
              </a:lnSpc>
              <a:defRPr sz="880">
                <a:solidFill>
                  <a:srgbClr val="334155"/>
                </a:solidFill>
              </a:defRPr>
            </a:pPr>
            <a:r>
              <a:t>- 4 Automated robot jobs (AST, Secrets, Matrix, 401)</a:t>
            </a:r>
            <a:br/>
            <a:r>
              <a:t>- ubuntu-latest free public cloud runners</a:t>
            </a:r>
            <a:br/>
            <a:r>
              <a:t>- Ed25519 SSH key signing for live Git pushes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280160"/>
            <a:ext cx="32918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97706"/>
                </a:solidFill>
              </a:defRPr>
            </a:pPr>
            <a:r>
              <a:t>AWS Cloud Core (us-east-2)</a:t>
            </a:r>
          </a:p>
          <a:p>
            <a:pPr>
              <a:lnSpc>
                <a:spcPct val="125000"/>
              </a:lnSpc>
              <a:defRPr sz="880">
                <a:solidFill>
                  <a:srgbClr val="334155"/>
                </a:solidFill>
              </a:defRPr>
            </a:pPr>
            <a:r>
              <a:t>- Lambda HTTPS Gateway with SHA-256 header gate</a:t>
            </a:r>
            <a:br/>
            <a:r>
              <a:t>- Bedrock Claude Sonnet 4.6 Mantle Converse API</a:t>
            </a:r>
            <a:br/>
            <a:r>
              <a:t>- Step Functions state machines &amp; KMS S3 bucket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32918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59669"/>
                </a:solidFill>
              </a:defRPr>
            </a:pPr>
            <a:r>
              <a:t>AI Knowledge &amp; Database</a:t>
            </a:r>
          </a:p>
          <a:p>
            <a:pPr>
              <a:lnSpc>
                <a:spcPct val="125000"/>
              </a:lnSpc>
              <a:defRPr sz="880">
                <a:solidFill>
                  <a:srgbClr val="334155"/>
                </a:solidFill>
              </a:defRPr>
            </a:pPr>
            <a:r>
              <a:t>- Vector Database with cosine similarity search</a:t>
            </a:r>
            <a:br/>
            <a:r>
              <a:t>- Knowledge Graph with Cypher multi-hop traversals</a:t>
            </a:r>
            <a:br/>
            <a:r>
              <a:t>- Context DAG memory indexing &amp; skill registry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3931920"/>
            <a:ext cx="32918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C2626"/>
                </a:solidFill>
              </a:defRPr>
            </a:pPr>
            <a:r>
              <a:t>Dual-Mode Security Gate</a:t>
            </a:r>
          </a:p>
          <a:p>
            <a:pPr>
              <a:lnSpc>
                <a:spcPct val="125000"/>
              </a:lnSpc>
              <a:defRPr sz="880">
                <a:solidFill>
                  <a:srgbClr val="334155"/>
                </a:solidFill>
              </a:defRPr>
            </a:pPr>
            <a:r>
              <a:t>- Non-Owner Visitor Mode: 100% free $0 demo</a:t>
            </a:r>
            <a:br/>
            <a:r>
              <a:t>- Owner Passcode Mode: Real AWS us-east-2 access</a:t>
            </a:r>
            <a:br/>
            <a:r>
              <a:t>- Zero secret leakage guarantee via regex auditor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931920"/>
            <a:ext cx="32918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475569"/>
                </a:solidFill>
              </a:defRPr>
            </a:pPr>
            <a:r>
              <a:t>Executive Synthesis</a:t>
            </a:r>
          </a:p>
          <a:p>
            <a:pPr>
              <a:lnSpc>
                <a:spcPct val="125000"/>
              </a:lnSpc>
              <a:defRPr sz="880">
                <a:solidFill>
                  <a:srgbClr val="334155"/>
                </a:solidFill>
              </a:defRPr>
            </a:pPr>
            <a:r>
              <a:t>- Automated 1-page visual PDF guides</a:t>
            </a:r>
            <a:br/>
            <a:r>
              <a:t>- Cryptographic telemetry receipts</a:t>
            </a:r>
            <a:br/>
            <a:r>
              <a:t>- Executive bullet point audit stream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THE FUTURE OF AI ORGANIZATIONS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From Chatting with Models to Conducting Orchestras</a:t>
            </a:r>
          </a:p>
          <a:p>
            <a:br/>
            <a:pPr algn="ctr">
              <a:defRPr sz="1200" b="1">
                <a:solidFill>
                  <a:srgbClr val="94A3B8"/>
                </a:solidFill>
              </a:defRPr>
            </a:pPr>
            <a:r>
              <a:t>Key Takeaways from Our Journey:</a:t>
            </a:r>
            <a:br/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1. Lone agents hit context ceilings; 3-Layer Brains distribute cognition from instant reflexes to deep deliberation.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2. The AI Factory turns unpredictable hallucinations into certified 48/48 CI matrix software builds.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3. S&amp;OP organizational structures allow multi-agent teams to forecast, operate, and govern autonomously.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4. Ambient AI makes the entire apparatus invisible: you speak your intent, and the organization executes with total safety.</a:t>
            </a:r>
          </a:p>
          <a:p>
            <a:br/>
            <a:pPr algn="ctr">
              <a:defRPr sz="1400" b="1">
                <a:solidFill>
                  <a:srgbClr val="38BDF8"/>
                </a:solidFill>
              </a:defRPr>
            </a:pPr>
            <a:r>
              <a:t>"The best AI system is the one you don't have to micromanage."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