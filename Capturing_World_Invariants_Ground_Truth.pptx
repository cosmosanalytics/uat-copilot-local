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📘 GROUNDTRUTH AI ENGINEERING</a:t>
            </a:r>
          </a:p>
          <a:p>
            <a:pPr algn="ctr">
              <a:defRPr sz="3800" b="1">
                <a:solidFill>
                  <a:srgbClr val="0F172A"/>
                </a:solidFill>
              </a:defRPr>
            </a:pPr>
            <a:r>
              <a:t>Capturing World Invariants:</a:t>
            </a:r>
          </a:p>
          <a:p>
            <a:pPr algn="ctr">
              <a:defRPr sz="3400" b="1">
                <a:solidFill>
                  <a:srgbClr val="0284C7"/>
                </a:solidFill>
              </a:defRPr>
            </a:pPr>
            <a:r>
              <a:t>The Foundation of True Ground Truth</a:t>
            </a:r>
          </a:p>
          <a:p>
            <a:br/>
            <a:pPr algn="ctr">
              <a:defRPr sz="1500">
                <a:solidFill>
                  <a:srgbClr val="64748B"/>
                </a:solidFill>
              </a:defRPr>
            </a:pPr>
            <a:r>
              <a:t>Why AI Agents Fail in the Real World — and How Root Invariants Turn Hallucination into Deterministic Reliability.</a:t>
            </a:r>
          </a:p>
          <a:p>
            <a:br/>
            <a:pPr algn="ctr">
              <a:defRPr sz="1200" b="1">
                <a:solidFill>
                  <a:srgbClr val="475569"/>
                </a:solidFill>
              </a:defRPr>
            </a:pPr>
            <a:r>
              <a:t>4 Real-World Case Studies: Enterprise Security • FinTech AML • Cloud DevOps • Narrative Literature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📘 GROUNDTRUTH ARCHITECTURE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Core Principle: What is a World Invariant?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Understanding why traditional prompting hallucinates and how ground truth anchors agent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🚫 Rule 1: Never Hallucinate Constants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If a source (like Wikipedia) defines an optimization formula algebraically as J = sum(w*(r-x)^2), DO NOT invent a fake 42.0 kPa ceiling.</a:t>
            </a:r>
            <a:br/>
            <a:br/>
            <a:r>
              <a:t>Ground truth means exact fidelity: keep unspecified bounds algebraic and extract ONLY what exists.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29000" cy="4389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⚖️ Rule 2: World Physics != Agent Strategy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World Invariants are what the ENVIRONMENT enforces (gravity, token expiration, barren soil).</a:t>
            </a:r>
            <a:br/>
            <a:br/>
            <a:r>
              <a:t>Agent Policies are choices the actor makes. Policies can bend; world physics never bend for any prompt.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2900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🛑 Rule 3: Every Invariant Needs a Tripwire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An invariant is useless as passive prose. It must be wired into the Directed Acyclic Graph (DAG) as a hard circuit breaker.</a:t>
            </a:r>
            <a:br/>
            <a:br/>
            <a:r>
              <a:t>If state telemetry crosses the boundary, execution freezes instantly into safe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📘 EXAMPLE 01: ENTERPRISE IDENTITY &amp; SOC2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Enterprise IT Security: FIDO2 &amp; Break-Glass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🏛️ THE WORLD INVARIANT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Hardware FIDO2 WebAuthn cryptographic keys are strictly mandatory across production VPCs. Legacy SMS OTP and voice telephone MFA are STRICTLY PROHIBITED due to SIM-swapping vulnerabilities.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📏 GROUND TRUTH BOUNDS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Direct database write lease TTL: capped at exactly 4 HOURS (240 minutes).</a:t>
            </a:r>
            <a:br/>
            <a:r>
              <a:t>Emergency Break-Glass tokens: hard-capped at exactly 2 HOURS (7,200 seconds).</a:t>
            </a:r>
          </a:p>
          <a:p>
            <a:br/>
            <a:pPr>
              <a:defRPr sz="1100" b="1">
                <a:solidFill>
                  <a:srgbClr val="EF4444"/>
                </a:solidFill>
              </a:defRPr>
            </a:pPr>
            <a:r>
              <a:t>⚡ DAG CIRCUIT BREAKER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The DAG intercepts unauthorized escalations: if Break-Glass token expires at 2 hours, it instantly terminates DB leases, reverts credentials, and dispatches an immutable SOC2 audit incident to SIRT.</a:t>
            </a:r>
          </a:p>
        </p:txBody>
      </p:sp>
      <p:pic>
        <p:nvPicPr>
          <p:cNvPr id="5" name="Picture 4" descr="app8_it_securit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📘 EXAMPLE 02: FINANCIAL CRIME &amp; REGULATORY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FinTech Dispute Intake: AML Velocity &amp; Federal Non-Tipping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🏛️ THE WORLD INVARIANT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Federal Non-Tipping Invariant (31 U.S.C. 5318(g)): Agents and customer support are STRICTLY PROHIBITED from tipping off customers about Suspicious Activity Report (SAR) filings or AML freezes.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📏 GROUND TRUTH BOUNDS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Instant Tier-1 Provisional Credit: EQUAL TO OR LESS THAN $150.00.</a:t>
            </a:r>
            <a:br/>
            <a:r>
              <a:t>High-Velocity AML Hold Window: exactly 72 HOURS.</a:t>
            </a:r>
            <a:br/>
            <a:r>
              <a:t>Merchant Delivery Proof Rebuttal: strictly 5 business days.</a:t>
            </a:r>
          </a:p>
          <a:p>
            <a:br/>
            <a:pPr>
              <a:defRPr sz="1100" b="1">
                <a:solidFill>
                  <a:srgbClr val="EF4444"/>
                </a:solidFill>
              </a:defRPr>
            </a:pPr>
            <a:r>
              <a:t>⚡ DAG CIRCUIT BREAKER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The DAG routes claims &lt; $150 to automated reversal. If 24h card velocity exceeds $5,000, it instantly routes into a 72-hour frozen gate. Missing tracking proof triggers automatic merchant forfeiture.</a:t>
            </a:r>
          </a:p>
        </p:txBody>
      </p:sp>
      <p:pic>
        <p:nvPicPr>
          <p:cNvPr id="5" name="Picture 4" descr="app8_fintech_disput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📘 EXAMPLE 03: SITE RELIABILITY ENGINEERING (SRE)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Cloud DevOps: Canary Rollouts &amp; Zero-Downtime DDL 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🏛️ THE WORLD INVARIANT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Production Availability Invariant: 99.99% service uptime supersedes manual operator overrides. Automated rollbacks trigger instantly whenever error budgets or lock latency thresholds drain.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📏 GROUND TRUTH BOUNDS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Canary Traffic Proportion: strictly 5% for not less than 15 MINUTES (900s).</a:t>
            </a:r>
            <a:br/>
            <a:r>
              <a:t>Database Migration Metadata Lock: MUST NOT EXCEED 200 MILLISECONDS.</a:t>
            </a:r>
          </a:p>
          <a:p>
            <a:br/>
            <a:pPr>
              <a:defRPr sz="1100" b="1">
                <a:solidFill>
                  <a:srgbClr val="EF4444"/>
                </a:solidFill>
              </a:defRPr>
            </a:pPr>
            <a:r>
              <a:t>⚡ DAG CIRCUIT BREAKER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The DAG mounts automated tripwires: if DDL migration metadata lock wait exceeds 200ms or Canary 5xx error rate exceeds 0.05%, it immediately aborts migration and triggers an automated instant rollback.</a:t>
            </a:r>
          </a:p>
        </p:txBody>
      </p:sp>
      <p:pic>
        <p:nvPicPr>
          <p:cNvPr id="5" name="Picture 4" descr="app8_cloud_devop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📘 EXAMPLE 04: NARRATIVE PHYSICS &amp; FOLKLORE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Literature &amp; Narrative: Story Invariants &amp; The Hero's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🏛️ THE WORLD INVARIANT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World Invariant: Fruitless Mountain is completely barren; nothing grows on it and birds/animals do not rest there. The mud village land is stubbornly poor. Minli has an impulsive, quick-acting nature.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📏 GROUND TRUTH BOUNDS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Exact Family Bounds: only 3 people live in the house (Minli, Father, Mother).</a:t>
            </a:r>
            <a:br/>
            <a:r>
              <a:t>House Bound: tiny boards tied with twine.</a:t>
            </a:r>
            <a:br/>
            <a:r>
              <a:t>Geography: the corner where Fruitless Mountain and Jade River meet.</a:t>
            </a:r>
          </a:p>
          <a:p>
            <a:br/>
            <a:pPr>
              <a:defRPr sz="1100" b="1">
                <a:solidFill>
                  <a:srgbClr val="EF4444"/>
                </a:solidFill>
              </a:defRPr>
            </a:pPr>
            <a:r>
              <a:t>⚡ DAG CIRCUIT BREAKER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Instead of IT jargon ('cryptographic telemetry'), the DAG maps the real dramatic dilemma: Accept Poverty &amp; Stagnate vs. Follow Impulsive Spirit and embark on the quest to find the Old Man of the Moon.</a:t>
            </a:r>
          </a:p>
        </p:txBody>
      </p:sp>
      <p:pic>
        <p:nvPicPr>
          <p:cNvPr id="5" name="Picture 4" descr="verified_flowchart_expanded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463040"/>
            <a:ext cx="6126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📘 GROUNDTRUTH ARCHITECTURE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GroundTruth Formula: From Raw Input to Reliable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How the 5-Tier Policy Tree and DAG Circuit Breakers eliminate hallucination across any domain.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🎯 KEY TAKEAWAYS FOR AI SYSTEMS ARCHITECTS</a:t>
            </a:r>
          </a:p>
          <a:p>
            <a:br/>
            <a:pPr>
              <a:defRPr sz="1150" b="1">
                <a:solidFill>
                  <a:srgbClr val="0F172A"/>
                </a:solidFill>
              </a:defRPr>
            </a:pPr>
            <a:r>
              <a:t>• 1. True Ground Truth Means No Hallucinated Numbers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If a source (novel, Wikipedia, whitepaper) doesn't specify physical constants, leave them algebraic. Inventing 42 kPa or $1.5% from thin air is a catastrophic failure of ground truth.</a:t>
            </a:r>
          </a:p>
          <a:p>
            <a:br/>
            <a:pPr>
              <a:defRPr sz="1150" b="1">
                <a:solidFill>
                  <a:srgbClr val="0F172A"/>
                </a:solidFill>
              </a:defRPr>
            </a:pPr>
            <a:r>
              <a:t>• 2. World Invariants Govern the Reality of the Environment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Whether it's the physics of Fruitless Mountain, SOC2 4-hour lease timers, or mass-conservation laws, world invariants never bend to an LLM's prompt persuasion.</a:t>
            </a:r>
          </a:p>
          <a:p>
            <a:br/>
            <a:pPr>
              <a:defRPr sz="1150" b="1">
                <a:solidFill>
                  <a:srgbClr val="0F172A"/>
                </a:solidFill>
              </a:defRPr>
            </a:pPr>
            <a:r>
              <a:t>• 3. The 5-Tier Policy Hierarchy Bridges Any Domain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Root Invariants ➔ Scoped Directives ➔ Execution Rules ➔ Parameter Bounds ➔ Dead Ends provides a universal contract layer for both engineering runbooks and story plots.</a:t>
            </a:r>
          </a:p>
          <a:p>
            <a:br/>
            <a:pPr>
              <a:defRPr sz="1150" b="1">
                <a:solidFill>
                  <a:srgbClr val="0F172A"/>
                </a:solidFill>
              </a:defRPr>
            </a:pPr>
            <a:r>
              <a:t>• 4. Circuit-Breaker DAGs Enforce Deterministic Safety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   By compiling invariants directly into LangGraph decision nodes and tripwire terminals, agents are evaluated and constrained by a deterministic hidden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