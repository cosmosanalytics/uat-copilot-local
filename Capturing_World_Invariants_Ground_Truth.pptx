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731520" y="822960"/>
            <a:ext cx="10728655" cy="521208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0284C7"/>
                </a:solidFill>
              </a:defRPr>
            </a:pPr>
            <a:r>
              <a:t>📘 GROUNDTRUTH AI ENGINEERING</a:t>
            </a:r>
          </a:p>
          <a:p>
            <a:pPr algn="ctr">
              <a:defRPr sz="3600" b="1">
                <a:solidFill>
                  <a:srgbClr val="0F172A"/>
                </a:solidFill>
              </a:defRPr>
            </a:pPr>
            <a:r>
              <a:t>Capturing World Invariants:</a:t>
            </a:r>
          </a:p>
          <a:p>
            <a:pPr algn="ctr">
              <a:defRPr sz="3200" b="1">
                <a:solidFill>
                  <a:srgbClr val="0284C7"/>
                </a:solidFill>
              </a:defRPr>
            </a:pPr>
            <a:r>
              <a:t>The Foundation of True Ground Truth</a:t>
            </a:r>
          </a:p>
          <a:p>
            <a:br/>
            <a:pPr algn="ctr">
              <a:defRPr sz="1500" b="1">
                <a:solidFill>
                  <a:srgbClr val="F59E0B"/>
                </a:solidFill>
              </a:defRPr>
            </a:pPr>
            <a:r>
              <a:t>⭐ “The principle is to capture the essentials of the text so that interpretation will never deviate away from the ground truth.”</a:t>
            </a:r>
          </a:p>
          <a:p>
            <a:pPr algn="ctr">
              <a:defRPr sz="1300">
                <a:solidFill>
                  <a:srgbClr val="64748B"/>
                </a:solidFill>
              </a:defRPr>
            </a:pPr>
            <a:r>
              <a:t>Why AI Agents Fail in the Real World — and How Root Invariants Turn Hallucination into Deterministic Reliability.</a:t>
            </a:r>
          </a:p>
          <a:p>
            <a:br/>
            <a:pPr algn="ctr">
              <a:defRPr sz="1150" b="1">
                <a:solidFill>
                  <a:srgbClr val="475569"/>
                </a:solidFill>
              </a:defRPr>
            </a:pPr>
            <a:r>
              <a:t>Full Pipeline Walkthrough: Original Input Ingestion (Step 1) ➔ Ground Truth Compilation ➔ Flowchart DAGs (Step 2)</a:t>
            </a:r>
            <a:br/>
            <a:r>
              <a:t>Enterprise IT Security • FinTech AML • Cloud DevOps • Narrative Literature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20040"/>
            <a:ext cx="7315200" cy="292608"/>
          </a:xfrm>
          <a:prstGeom prst="rect">
            <a:avLst/>
          </a:prstGeom>
          <a:noFill/>
        </p:spPr>
        <p:txBody>
          <a:bodyPr wrap="square">
            <a:spAutoFit/>
          </a:bodyPr>
          <a:lstStyle/>
          <a:p>
            <a:pPr>
              <a:defRPr sz="1000" b="1">
                <a:solidFill>
                  <a:srgbClr val="0284C7"/>
                </a:solidFill>
              </a:defRPr>
            </a:pPr>
            <a:r>
              <a:t>📘 GROUNDTRUTH ARCHITECTURE PRINCIPLES</a:t>
            </a:r>
          </a:p>
        </p:txBody>
      </p:sp>
      <p:sp>
        <p:nvSpPr>
          <p:cNvPr id="3" name="TextBox 2"/>
          <p:cNvSpPr txBox="1"/>
          <p:nvPr/>
        </p:nvSpPr>
        <p:spPr>
          <a:xfrm>
            <a:off x="731520" y="594360"/>
            <a:ext cx="10515600" cy="502920"/>
          </a:xfrm>
          <a:prstGeom prst="rect">
            <a:avLst/>
          </a:prstGeom>
          <a:noFill/>
        </p:spPr>
        <p:txBody>
          <a:bodyPr wrap="square">
            <a:spAutoFit/>
          </a:bodyPr>
          <a:lstStyle/>
          <a:p>
            <a:pPr>
              <a:defRPr sz="2100" b="1">
                <a:solidFill>
                  <a:srgbClr val="0F172A"/>
                </a:solidFill>
              </a:defRPr>
            </a:pPr>
            <a:r>
              <a:t>The Golden Principle: Anchoring Interpretation to Ground Truth</a:t>
            </a:r>
          </a:p>
        </p:txBody>
      </p:sp>
      <p:sp>
        <p:nvSpPr>
          <p:cNvPr id="4" name="TextBox 3"/>
          <p:cNvSpPr txBox="1"/>
          <p:nvPr/>
        </p:nvSpPr>
        <p:spPr>
          <a:xfrm>
            <a:off x="731520" y="1078992"/>
            <a:ext cx="10515600" cy="292608"/>
          </a:xfrm>
          <a:prstGeom prst="rect">
            <a:avLst/>
          </a:prstGeom>
          <a:noFill/>
        </p:spPr>
        <p:txBody>
          <a:bodyPr wrap="square">
            <a:spAutoFit/>
          </a:bodyPr>
          <a:lstStyle/>
          <a:p>
            <a:pPr>
              <a:defRPr sz="1100">
                <a:solidFill>
                  <a:srgbClr val="64748B"/>
                </a:solidFill>
              </a:defRPr>
            </a:pPr>
            <a:r>
              <a:t>Capturing the irreducible essentials so that downstream agent interpretation never drifts or hallucinates.</a:t>
            </a:r>
          </a:p>
        </p:txBody>
      </p:sp>
      <p:sp>
        <p:nvSpPr>
          <p:cNvPr id="5" name="Rounded Rectangle 4"/>
          <p:cNvSpPr/>
          <p:nvPr/>
        </p:nvSpPr>
        <p:spPr>
          <a:xfrm>
            <a:off x="731520" y="1371600"/>
            <a:ext cx="10728655" cy="960120"/>
          </a:xfrm>
          <a:prstGeom prst="roundRect">
            <a:avLst/>
          </a:prstGeom>
          <a:solidFill>
            <a:srgbClr val="FEF9C3"/>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B45309"/>
                </a:solidFill>
              </a:defRPr>
            </a:pPr>
            <a:r>
              <a:t>⭐ THE GOLDEN AXIOM OF GROUND TRUTH</a:t>
            </a:r>
          </a:p>
          <a:p>
            <a:pPr>
              <a:defRPr sz="1300" b="1">
                <a:solidFill>
                  <a:srgbClr val="0F172A"/>
                </a:solidFill>
              </a:defRPr>
            </a:pPr>
            <a:r>
              <a:t>“The principle is to capture the essentials of the text so that interpretation will never deviate away from the ground truth.”</a:t>
            </a:r>
          </a:p>
          <a:p>
            <a:pPr>
              <a:defRPr sz="950">
                <a:solidFill>
                  <a:srgbClr val="64748B"/>
                </a:solidFill>
              </a:defRPr>
            </a:pPr>
            <a:r>
              <a:t>Downstream interpretation naturally drifts when unconstrained. Extracting the invariant core creates an unbreakable tether.</a:t>
            </a:r>
          </a:p>
        </p:txBody>
      </p:sp>
      <p:sp>
        <p:nvSpPr>
          <p:cNvPr id="6" name="Rounded Rectangle 5"/>
          <p:cNvSpPr/>
          <p:nvPr/>
        </p:nvSpPr>
        <p:spPr>
          <a:xfrm>
            <a:off x="731520" y="2487168"/>
            <a:ext cx="3429000" cy="3886200"/>
          </a:xfrm>
          <a:prstGeom prst="roundRect">
            <a:avLst/>
          </a:prstGeom>
          <a:solidFill>
            <a:srgbClr val="FEF2F2"/>
          </a:solidFill>
          <a:ln w="1905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EF4444"/>
                </a:solidFill>
              </a:defRPr>
            </a:pPr>
            <a:r>
              <a:t>🚫 Rule 1: Never Hallucinate Constants</a:t>
            </a:r>
          </a:p>
          <a:p>
            <a:br/>
            <a:pPr>
              <a:defRPr sz="1050">
                <a:solidFill>
                  <a:srgbClr val="0F172A"/>
                </a:solidFill>
              </a:defRPr>
            </a:pPr>
            <a:r>
              <a:t>If a source defines an optimization formula algebraically as J = sum(w*(r-x)^2), DO NOT invent a fake 42.0 kPa ceiling.</a:t>
            </a:r>
            <a:br/>
            <a:br/>
            <a:r>
              <a:t>Keep unspecified bounds algebraic and extract ONLY what exists in the input.</a:t>
            </a:r>
          </a:p>
        </p:txBody>
      </p:sp>
      <p:sp>
        <p:nvSpPr>
          <p:cNvPr id="7" name="Rounded Rectangle 6"/>
          <p:cNvSpPr/>
          <p:nvPr/>
        </p:nvSpPr>
        <p:spPr>
          <a:xfrm>
            <a:off x="4389120" y="2487168"/>
            <a:ext cx="3429000" cy="3886200"/>
          </a:xfrm>
          <a:prstGeom prst="roundRect">
            <a:avLst/>
          </a:prstGeom>
          <a:solidFill>
            <a:srgbClr val="F0F9FF"/>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0284C7"/>
                </a:solidFill>
              </a:defRPr>
            </a:pPr>
            <a:r>
              <a:t>⚖️ Rule 2: World Physics != Agent Strategy</a:t>
            </a:r>
          </a:p>
          <a:p>
            <a:br/>
            <a:pPr>
              <a:defRPr sz="1050">
                <a:solidFill>
                  <a:srgbClr val="0F172A"/>
                </a:solidFill>
              </a:defRPr>
            </a:pPr>
            <a:r>
              <a:t>World Invariants are what the ENVIRONMENT enforces (gravity, token expiration, barren soil, federal laws).</a:t>
            </a:r>
            <a:br/>
            <a:br/>
            <a:r>
              <a:t>Agent Strategy can adapt; world invariants never bend for any prompt.</a:t>
            </a:r>
          </a:p>
        </p:txBody>
      </p:sp>
      <p:sp>
        <p:nvSpPr>
          <p:cNvPr id="8" name="Rounded Rectangle 7"/>
          <p:cNvSpPr/>
          <p:nvPr/>
        </p:nvSpPr>
        <p:spPr>
          <a:xfrm>
            <a:off x="8046720" y="2487168"/>
            <a:ext cx="3429000" cy="3886200"/>
          </a:xfrm>
          <a:prstGeom prst="roundRect">
            <a:avLst/>
          </a:prstGeom>
          <a:solidFill>
            <a:srgbClr val="ECFDF5"/>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10B981"/>
                </a:solidFill>
              </a:defRPr>
            </a:pPr>
            <a:r>
              <a:t>🛑 Rule 3: Every Invariant Needs a Tripwire</a:t>
            </a:r>
          </a:p>
          <a:p>
            <a:br/>
            <a:pPr>
              <a:defRPr sz="1050">
                <a:solidFill>
                  <a:srgbClr val="0F172A"/>
                </a:solidFill>
              </a:defRPr>
            </a:pPr>
            <a:r>
              <a:t>An invariant is useless as passive prose. It must be wired into the Directed Acyclic Graph (DAG) as a hard circuit breaker.</a:t>
            </a:r>
            <a:br/>
            <a:br/>
            <a:r>
              <a:t>If telemetry crosses the boundary, execution freezes instantly into safe fallback.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20040"/>
            <a:ext cx="7315200" cy="292608"/>
          </a:xfrm>
          <a:prstGeom prst="rect">
            <a:avLst/>
          </a:prstGeom>
          <a:noFill/>
        </p:spPr>
        <p:txBody>
          <a:bodyPr wrap="square">
            <a:spAutoFit/>
          </a:bodyPr>
          <a:lstStyle/>
          <a:p>
            <a:pPr>
              <a:defRPr sz="1000" b="1">
                <a:solidFill>
                  <a:srgbClr val="0284C7"/>
                </a:solidFill>
              </a:defRPr>
            </a:pPr>
            <a:r>
              <a:t>📘 GROUNDTRUTH ARCHITECTURE PRINCIPLES</a:t>
            </a:r>
          </a:p>
        </p:txBody>
      </p:sp>
      <p:sp>
        <p:nvSpPr>
          <p:cNvPr id="3" name="TextBox 2"/>
          <p:cNvSpPr txBox="1"/>
          <p:nvPr/>
        </p:nvSpPr>
        <p:spPr>
          <a:xfrm>
            <a:off x="731520" y="594360"/>
            <a:ext cx="10515600" cy="502920"/>
          </a:xfrm>
          <a:prstGeom prst="rect">
            <a:avLst/>
          </a:prstGeom>
          <a:noFill/>
        </p:spPr>
        <p:txBody>
          <a:bodyPr wrap="square">
            <a:spAutoFit/>
          </a:bodyPr>
          <a:lstStyle/>
          <a:p>
            <a:pPr>
              <a:defRPr sz="2100" b="1">
                <a:solidFill>
                  <a:srgbClr val="0F172A"/>
                </a:solidFill>
              </a:defRPr>
            </a:pPr>
            <a:r>
              <a:t>The Dual-Input Architecture: Two Sources of Truth</a:t>
            </a:r>
          </a:p>
        </p:txBody>
      </p:sp>
      <p:sp>
        <p:nvSpPr>
          <p:cNvPr id="4" name="TextBox 3"/>
          <p:cNvSpPr txBox="1"/>
          <p:nvPr/>
        </p:nvSpPr>
        <p:spPr>
          <a:xfrm>
            <a:off x="731520" y="1078992"/>
            <a:ext cx="10515600" cy="292608"/>
          </a:xfrm>
          <a:prstGeom prst="rect">
            <a:avLst/>
          </a:prstGeom>
          <a:noFill/>
        </p:spPr>
        <p:txBody>
          <a:bodyPr wrap="square">
            <a:spAutoFit/>
          </a:bodyPr>
          <a:lstStyle/>
          <a:p>
            <a:pPr>
              <a:defRPr sz="1100">
                <a:solidFill>
                  <a:srgbClr val="64748B"/>
                </a:solidFill>
              </a:defRPr>
            </a:pPr>
            <a:r>
              <a:t>How the GroundTruth engine combines static policy contracts with dynamic live web interfaces.</a:t>
            </a:r>
          </a:p>
        </p:txBody>
      </p:sp>
      <p:sp>
        <p:nvSpPr>
          <p:cNvPr id="5" name="Rounded Rectangle 4"/>
          <p:cNvSpPr/>
          <p:nvPr/>
        </p:nvSpPr>
        <p:spPr>
          <a:xfrm>
            <a:off x="731520" y="1463040"/>
            <a:ext cx="5257800" cy="3108960"/>
          </a:xfrm>
          <a:prstGeom prst="roundRect">
            <a:avLst/>
          </a:prstGeom>
          <a:solidFill>
            <a:srgbClr val="F0F9FF"/>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0284C7"/>
                </a:solidFill>
              </a:defRPr>
            </a:pPr>
            <a:r>
              <a:t>📄 Input 1: Custom Document / Policy / SOP / Excerpt</a:t>
            </a:r>
          </a:p>
          <a:p>
            <a:pPr>
              <a:defRPr sz="1000" b="1">
                <a:solidFill>
                  <a:srgbClr val="64748B"/>
                </a:solidFill>
              </a:defRPr>
            </a:pPr>
            <a:r>
              <a:t>The Normative &amp; Contractual Reality</a:t>
            </a:r>
          </a:p>
          <a:p>
            <a:br/>
            <a:pPr>
              <a:defRPr sz="1050">
                <a:solidFill>
                  <a:srgbClr val="0F172A"/>
                </a:solidFill>
              </a:defRPr>
            </a:pPr>
            <a:r>
              <a:t>The user provides raw human prose: corporate SOPs, regulatory statutes, runbooks, or literary narratives.</a:t>
            </a:r>
            <a:br/>
            <a:br/>
            <a:r>
              <a:t>• Defines root axioms, permission bounds, and hard prohibitions.</a:t>
            </a:r>
            <a:br/>
            <a:r>
              <a:t>• Contains the world invariants that must NEVER be violated.</a:t>
            </a:r>
            <a:br/>
            <a:r>
              <a:t>• Unstructured and messy in raw form — requires structured parsing.</a:t>
            </a:r>
          </a:p>
        </p:txBody>
      </p:sp>
      <p:sp>
        <p:nvSpPr>
          <p:cNvPr id="6" name="Rounded Rectangle 5"/>
          <p:cNvSpPr/>
          <p:nvPr/>
        </p:nvSpPr>
        <p:spPr>
          <a:xfrm>
            <a:off x="6172200" y="1463040"/>
            <a:ext cx="5257800" cy="3108960"/>
          </a:xfrm>
          <a:prstGeom prst="roundRect">
            <a:avLst/>
          </a:prstGeom>
          <a:solidFill>
            <a:srgbClr val="F5F3FF"/>
          </a:solidFill>
          <a:ln w="1905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8B5CF6"/>
                </a:solidFill>
              </a:defRPr>
            </a:pPr>
            <a:r>
              <a:t>🌐 Input 2: Web Address / Internal Portal URL</a:t>
            </a:r>
          </a:p>
          <a:p>
            <a:pPr>
              <a:defRPr sz="1000" b="1">
                <a:solidFill>
                  <a:srgbClr val="64748B"/>
                </a:solidFill>
              </a:defRPr>
            </a:pPr>
            <a:r>
              <a:t>The Empirical &amp; Operational Environment</a:t>
            </a:r>
          </a:p>
          <a:p>
            <a:br/>
            <a:pPr>
              <a:defRPr sz="1050">
                <a:solidFill>
                  <a:srgbClr val="0F172A"/>
                </a:solidFill>
              </a:defRPr>
            </a:pPr>
            <a:r>
              <a:t>The live target interface where actions execute: an internal SSO portal, dispute microservice, canary router, or external URL.</a:t>
            </a:r>
            <a:br/>
            <a:br/>
            <a:r>
              <a:t>• Supplies real-time observation telemetry.</a:t>
            </a:r>
            <a:br/>
            <a:r>
              <a:t>• Validates preconditions before dispatching mutations.</a:t>
            </a:r>
            <a:br/>
            <a:r>
              <a:t>• Exposes operational gates (APIs, routes, telemetry feeds).</a:t>
            </a:r>
          </a:p>
        </p:txBody>
      </p:sp>
      <p:sp>
        <p:nvSpPr>
          <p:cNvPr id="7" name="Rounded Rectangle 6"/>
          <p:cNvSpPr/>
          <p:nvPr/>
        </p:nvSpPr>
        <p:spPr>
          <a:xfrm>
            <a:off x="731520" y="4754880"/>
            <a:ext cx="10728655" cy="1463040"/>
          </a:xfrm>
          <a:prstGeom prst="roundRect">
            <a:avLst/>
          </a:prstGeom>
          <a:solidFill>
            <a:srgbClr val="F8FAFC"/>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10B981"/>
                </a:solidFill>
              </a:defRPr>
            </a:pPr>
            <a:r>
              <a:t>⚡ DUAL GOVERNANCE COMPILATION: FROM INTAKE TO EXECUTABLE DAG</a:t>
            </a:r>
          </a:p>
          <a:p>
            <a:pPr>
              <a:defRPr sz="1050">
                <a:solidFill>
                  <a:srgbClr val="0F172A"/>
                </a:solidFill>
              </a:defRPr>
            </a:pPr>
            <a:r>
              <a:t>When both inputs are ingested, the GroundTruth compiler synthesizes:</a:t>
            </a:r>
            <a:br/>
            <a:r>
              <a:t>1. Cascading Policy Tree (Text Contract): 5 Tiers of verified invariants, directives, and dead ends.</a:t>
            </a:r>
            <a:br/>
            <a:r>
              <a:t>2. Interactive Flowchart DAG (Executable Topology): Branching decision diamonds with automated circuit-breaker tripwires.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20040"/>
            <a:ext cx="7315200" cy="292608"/>
          </a:xfrm>
          <a:prstGeom prst="rect">
            <a:avLst/>
          </a:prstGeom>
          <a:noFill/>
        </p:spPr>
        <p:txBody>
          <a:bodyPr wrap="square">
            <a:spAutoFit/>
          </a:bodyPr>
          <a:lstStyle/>
          <a:p>
            <a:pPr>
              <a:defRPr sz="1000" b="1">
                <a:solidFill>
                  <a:srgbClr val="0284C7"/>
                </a:solidFill>
              </a:defRPr>
            </a:pPr>
            <a:r>
              <a:t>📘 EXAMPLE 01 (PART 1): ENTERPRISE IDENTITY &amp; SOC2 — ORIGINAL INPUT INTAKE</a:t>
            </a:r>
          </a:p>
        </p:txBody>
      </p:sp>
      <p:sp>
        <p:nvSpPr>
          <p:cNvPr id="3" name="TextBox 2"/>
          <p:cNvSpPr txBox="1"/>
          <p:nvPr/>
        </p:nvSpPr>
        <p:spPr>
          <a:xfrm>
            <a:off x="731520" y="594360"/>
            <a:ext cx="10515600" cy="502920"/>
          </a:xfrm>
          <a:prstGeom prst="rect">
            <a:avLst/>
          </a:prstGeom>
          <a:noFill/>
        </p:spPr>
        <p:txBody>
          <a:bodyPr wrap="square">
            <a:spAutoFit/>
          </a:bodyPr>
          <a:lstStyle/>
          <a:p>
            <a:pPr>
              <a:defRPr sz="2100" b="1">
                <a:solidFill>
                  <a:srgbClr val="0F172A"/>
                </a:solidFill>
              </a:defRPr>
            </a:pPr>
            <a:r>
              <a:t>IT Security: Original Ingestion &amp; Policy Document</a:t>
            </a:r>
          </a:p>
        </p:txBody>
      </p:sp>
      <p:sp>
        <p:nvSpPr>
          <p:cNvPr id="4" name="Rounded Rectangle 3"/>
          <p:cNvSpPr/>
          <p:nvPr/>
        </p:nvSpPr>
        <p:spPr>
          <a:xfrm>
            <a:off x="731520" y="1371600"/>
            <a:ext cx="4754880" cy="502920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0284C7"/>
                </a:solidFill>
              </a:defRPr>
            </a:pPr>
            <a:r>
              <a:t>📥 INPUT 1: RAW SOURCE DOCUMENT / SOP</a:t>
            </a:r>
          </a:p>
          <a:p>
            <a:pPr>
              <a:defRPr sz="950" b="1">
                <a:solidFill>
                  <a:srgbClr val="0F172A"/>
                </a:solidFill>
              </a:defRPr>
            </a:pPr>
            <a:r>
              <a:t>Title: SEC-POL-402_Rev4: Enterprise IT SSO &amp; Privilege Escalation Policy</a:t>
            </a:r>
          </a:p>
          <a:p>
            <a:pPr>
              <a:defRPr sz="900" i="1">
                <a:solidFill>
                  <a:srgbClr val="334155"/>
                </a:solidFill>
              </a:defRPr>
            </a:pPr>
            <a:r>
              <a:t>"§ 1.0 Multi-Factor Authentication (MFA) Mandate: All engineers, contractor personnel, and automated system accounts accessing production VPCs... must authenticate using physical, hardware-backed FIDO2 WebAuthn cryptographic keys (e.g. YubiKey 5 Series). Legacy SMS OTP and voice-call telephone verifications are STRICTLY PROHIBITED.</a:t>
            </a:r>
            <a:br/>
            <a:r>
              <a:t>§ 2.0 Elevated Database Write Leases: Elevated access leases are strictly ephemeral: TTL SHALL NOT EXCEED 4 HOURS (240 minutes).</a:t>
            </a:r>
            <a:br/>
            <a:r>
              <a:t>§ 3.0 Emergency Break-Glass: Break-Glass tokens are hard-capped at 2 HOURS (7,200 SECONDS). A non-dismissible audit event is dispatched instantly to SIRT."</a:t>
            </a:r>
          </a:p>
          <a:p>
            <a:br/>
            <a:pPr>
              <a:defRPr sz="1050" b="1">
                <a:solidFill>
                  <a:srgbClr val="0284C7"/>
                </a:solidFill>
              </a:defRPr>
            </a:pPr>
            <a:r>
              <a:t>🌐 INPUT 2: WEB ADDRESS / TARGET ENDPOINT</a:t>
            </a:r>
          </a:p>
          <a:p>
            <a:pPr>
              <a:defRPr sz="950" b="1">
                <a:solidFill>
                  <a:srgbClr val="0F172A"/>
                </a:solidFill>
              </a:defRPr>
            </a:pPr>
            <a:r>
              <a:t>URL: https://internal.corp.local/overview</a:t>
            </a:r>
          </a:p>
          <a:p>
            <a:br/>
            <a:pPr>
              <a:defRPr sz="1050" b="1">
                <a:solidFill>
                  <a:srgbClr val="EF4444"/>
                </a:solidFill>
              </a:defRPr>
            </a:pPr>
            <a:r>
              <a:t>⚠️ WHY NAIVE LLMS FAIL ON THIS INPUT</a:t>
            </a:r>
          </a:p>
          <a:p>
            <a:pPr>
              <a:defRPr sz="919">
                <a:solidFill>
                  <a:srgbClr val="0F172A"/>
                </a:solidFill>
              </a:defRPr>
            </a:pPr>
            <a:r>
              <a:t>Without strict invariant extraction, an LLM easily falls back to 'helpful' user options like sending an SMS code during login friction, directly violating SOC2 hardware token requirements. It also tends to round lease timers or fail to trigger immediate SIRT alerts.</a:t>
            </a:r>
          </a:p>
        </p:txBody>
      </p:sp>
      <p:pic>
        <p:nvPicPr>
          <p:cNvPr id="5" name="Picture 4" descr="app8_it_security_step1.png"/>
          <p:cNvPicPr>
            <a:picLocks noChangeAspect="1"/>
          </p:cNvPicPr>
          <p:nvPr/>
        </p:nvPicPr>
        <p:blipFill>
          <a:blip r:embed="rId2"/>
          <a:stretch>
            <a:fillRect/>
          </a:stretch>
        </p:blipFill>
        <p:spPr>
          <a:xfrm>
            <a:off x="5669280" y="1371600"/>
            <a:ext cx="5788152" cy="50292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20040"/>
            <a:ext cx="7315200" cy="292608"/>
          </a:xfrm>
          <a:prstGeom prst="rect">
            <a:avLst/>
          </a:prstGeom>
          <a:noFill/>
        </p:spPr>
        <p:txBody>
          <a:bodyPr wrap="square">
            <a:spAutoFit/>
          </a:bodyPr>
          <a:lstStyle/>
          <a:p>
            <a:pPr>
              <a:defRPr sz="1000" b="1">
                <a:solidFill>
                  <a:srgbClr val="0284C7"/>
                </a:solidFill>
              </a:defRPr>
            </a:pPr>
            <a:r>
              <a:t>📘 EXAMPLE 01 (PART 2): ENTERPRISE IDENTITY &amp; SOC2 — GROUND TRUTH OUTPUT &amp; DAG</a:t>
            </a:r>
          </a:p>
        </p:txBody>
      </p:sp>
      <p:sp>
        <p:nvSpPr>
          <p:cNvPr id="3" name="TextBox 2"/>
          <p:cNvSpPr txBox="1"/>
          <p:nvPr/>
        </p:nvSpPr>
        <p:spPr>
          <a:xfrm>
            <a:off x="731520" y="594360"/>
            <a:ext cx="10515600" cy="502920"/>
          </a:xfrm>
          <a:prstGeom prst="rect">
            <a:avLst/>
          </a:prstGeom>
          <a:noFill/>
        </p:spPr>
        <p:txBody>
          <a:bodyPr wrap="square">
            <a:spAutoFit/>
          </a:bodyPr>
          <a:lstStyle/>
          <a:p>
            <a:pPr>
              <a:defRPr sz="2100" b="1">
                <a:solidFill>
                  <a:srgbClr val="0F172A"/>
                </a:solidFill>
              </a:defRPr>
            </a:pPr>
            <a:r>
              <a:t>IT Security: Compiled Ground Truth &amp; Flowchart DAG</a:t>
            </a:r>
          </a:p>
        </p:txBody>
      </p:sp>
      <p:sp>
        <p:nvSpPr>
          <p:cNvPr id="4" name="Rounded Rectangle 3"/>
          <p:cNvSpPr/>
          <p:nvPr/>
        </p:nvSpPr>
        <p:spPr>
          <a:xfrm>
            <a:off x="731520" y="1371600"/>
            <a:ext cx="4754880" cy="502920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0284C7"/>
                </a:solidFill>
              </a:defRPr>
            </a:pPr>
            <a:r>
              <a:t>🏛️ DERIVED WORLD INVARIANT (TIER 0)</a:t>
            </a:r>
          </a:p>
          <a:p>
            <a:pPr>
              <a:defRPr sz="930">
                <a:solidFill>
                  <a:srgbClr val="0F172A"/>
                </a:solidFill>
              </a:defRPr>
            </a:pPr>
            <a:r>
              <a:t>Hardware FIDO2 WebAuthn cryptographic keys are mandatory across production VPCs. Legacy SMS OTP and voice telephone MFA are STRICTLY PROHIBITED due to SIM-swapping vulnerabilities.</a:t>
            </a:r>
          </a:p>
          <a:p>
            <a:br/>
            <a:pPr>
              <a:defRPr sz="1050" b="1">
                <a:solidFill>
                  <a:srgbClr val="0284C7"/>
                </a:solidFill>
              </a:defRPr>
            </a:pPr>
            <a:r>
              <a:t>📏 GROUND TRUTH BOUNDS (EXACT LIMITS)</a:t>
            </a:r>
          </a:p>
          <a:p>
            <a:pPr>
              <a:defRPr sz="930">
                <a:solidFill>
                  <a:srgbClr val="0F172A"/>
                </a:solidFill>
              </a:defRPr>
            </a:pPr>
            <a:r>
              <a:t>Direct database write lease TTL: capped at exactly 4 HOURS (240 minutes).</a:t>
            </a:r>
            <a:br/>
            <a:r>
              <a:t>Emergency Break-Glass tokens: hard-capped at exactly 2 HOURS (7,200 seconds).</a:t>
            </a:r>
          </a:p>
          <a:p>
            <a:br/>
            <a:pPr>
              <a:defRPr sz="1050" b="1">
                <a:solidFill>
                  <a:srgbClr val="EF4444"/>
                </a:solidFill>
              </a:defRPr>
            </a:pPr>
            <a:r>
              <a:t>⚡ EXECUTABLE DAG &amp; CIRCUIT BREAKER</a:t>
            </a:r>
          </a:p>
          <a:p>
            <a:pPr>
              <a:defRPr sz="930">
                <a:solidFill>
                  <a:srgbClr val="0F172A"/>
                </a:solidFill>
              </a:defRPr>
            </a:pPr>
            <a:r>
              <a:t>The DAG intercepts unauthorized escalations: if Break-Glass token expires at 2 hours, it instantly terminates DB leases, reverts credentials, and dispatches an immutable SOC2 audit incident to SIRT.</a:t>
            </a:r>
          </a:p>
        </p:txBody>
      </p:sp>
      <p:pic>
        <p:nvPicPr>
          <p:cNvPr id="5" name="Picture 4" descr="app8_it_security_flowchart.png"/>
          <p:cNvPicPr>
            <a:picLocks noChangeAspect="1"/>
          </p:cNvPicPr>
          <p:nvPr/>
        </p:nvPicPr>
        <p:blipFill>
          <a:blip r:embed="rId2"/>
          <a:stretch>
            <a:fillRect/>
          </a:stretch>
        </p:blipFill>
        <p:spPr>
          <a:xfrm>
            <a:off x="5669280" y="1371600"/>
            <a:ext cx="5788152" cy="50292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20040"/>
            <a:ext cx="7315200" cy="292608"/>
          </a:xfrm>
          <a:prstGeom prst="rect">
            <a:avLst/>
          </a:prstGeom>
          <a:noFill/>
        </p:spPr>
        <p:txBody>
          <a:bodyPr wrap="square">
            <a:spAutoFit/>
          </a:bodyPr>
          <a:lstStyle/>
          <a:p>
            <a:pPr>
              <a:defRPr sz="1000" b="1">
                <a:solidFill>
                  <a:srgbClr val="0284C7"/>
                </a:solidFill>
              </a:defRPr>
            </a:pPr>
            <a:r>
              <a:t>📘 EXAMPLE 02 (PART 1): FINANCIAL CRIME &amp; REGULATION — ORIGINAL INPUT INTAKE</a:t>
            </a:r>
          </a:p>
        </p:txBody>
      </p:sp>
      <p:sp>
        <p:nvSpPr>
          <p:cNvPr id="3" name="TextBox 2"/>
          <p:cNvSpPr txBox="1"/>
          <p:nvPr/>
        </p:nvSpPr>
        <p:spPr>
          <a:xfrm>
            <a:off x="731520" y="594360"/>
            <a:ext cx="10515600" cy="502920"/>
          </a:xfrm>
          <a:prstGeom prst="rect">
            <a:avLst/>
          </a:prstGeom>
          <a:noFill/>
        </p:spPr>
        <p:txBody>
          <a:bodyPr wrap="square">
            <a:spAutoFit/>
          </a:bodyPr>
          <a:lstStyle/>
          <a:p>
            <a:pPr>
              <a:defRPr sz="2100" b="1">
                <a:solidFill>
                  <a:srgbClr val="0F172A"/>
                </a:solidFill>
              </a:defRPr>
            </a:pPr>
            <a:r>
              <a:t>FinTech AML Dispute: Original Ingestion &amp; Policy Document</a:t>
            </a:r>
          </a:p>
        </p:txBody>
      </p:sp>
      <p:sp>
        <p:nvSpPr>
          <p:cNvPr id="4" name="Rounded Rectangle 3"/>
          <p:cNvSpPr/>
          <p:nvPr/>
        </p:nvSpPr>
        <p:spPr>
          <a:xfrm>
            <a:off x="731520" y="1371600"/>
            <a:ext cx="4754880" cy="502920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10B981"/>
                </a:solidFill>
              </a:defRPr>
            </a:pPr>
            <a:r>
              <a:t>📥 INPUT 1: RAW SOURCE DOCUMENT / SOP</a:t>
            </a:r>
          </a:p>
          <a:p>
            <a:pPr>
              <a:defRPr sz="950" b="1">
                <a:solidFill>
                  <a:srgbClr val="0F172A"/>
                </a:solidFill>
              </a:defRPr>
            </a:pPr>
            <a:r>
              <a:t>Title: POL-OPS-AML-2026-015: FinTech Dispute Intake &amp; AML Hold</a:t>
            </a:r>
          </a:p>
          <a:p>
            <a:pPr>
              <a:defRPr sz="900" i="1">
                <a:solidFill>
                  <a:srgbClr val="334155"/>
                </a:solidFill>
              </a:defRPr>
            </a:pPr>
            <a:r>
              <a:t>"§ 1.0 Tier-1 Instant Provisional Refund Guidelines: Cardholder disputes for unauthorized transactions with an aggregate claim amount EQUAL TO OR LESS THAN $150.00 and a machine risk score under 25 may be provisionally credited within 60 seconds without supervisor override.</a:t>
            </a:r>
            <a:br/>
            <a:r>
              <a:t>§ 2.0 AML Velocity &amp; SAR Filing Mandatory Freeze: Automated rule processors detecting transaction velocities exceeding $5,000.00 within a 24-hour window on newly provisioned cards MUST IMMEDIATELY PLACE A 72-HOUR RESTRICTIVE HOLD. Under Federal Non-Tipping Invariants (31 U.S.C. § 5318(g)), agents and customer support are STRICTLY PROHIBITED from disclosing SAR investigations.</a:t>
            </a:r>
            <a:br/>
            <a:r>
              <a:t>§ 3.0 Merchant Evidence: Merchants have strictly 5 business days to submit signed carrier proof of delivery."</a:t>
            </a:r>
          </a:p>
          <a:p>
            <a:br/>
            <a:pPr>
              <a:defRPr sz="1050" b="1">
                <a:solidFill>
                  <a:srgbClr val="0284C7"/>
                </a:solidFill>
              </a:defRPr>
            </a:pPr>
            <a:r>
              <a:t>🌐 INPUT 2: WEB ADDRESS / TARGET ENDPOINT</a:t>
            </a:r>
          </a:p>
          <a:p>
            <a:pPr>
              <a:defRPr sz="950" b="1">
                <a:solidFill>
                  <a:srgbClr val="0F172A"/>
                </a:solidFill>
              </a:defRPr>
            </a:pPr>
            <a:r>
              <a:t>URL: https://internal.corp.local/disputes</a:t>
            </a:r>
          </a:p>
          <a:p>
            <a:br/>
            <a:pPr>
              <a:defRPr sz="1050" b="1">
                <a:solidFill>
                  <a:srgbClr val="EF4444"/>
                </a:solidFill>
              </a:defRPr>
            </a:pPr>
            <a:r>
              <a:t>⚠️ WHY NAIVE LLMS FAIL ON THIS INPUT</a:t>
            </a:r>
          </a:p>
          <a:p>
            <a:pPr>
              <a:defRPr sz="919">
                <a:solidFill>
                  <a:srgbClr val="0F172A"/>
                </a:solidFill>
              </a:defRPr>
            </a:pPr>
            <a:r>
              <a:t>An empathetic chatbot will naturally try to answer a customer's question: 'Why is my money frozen?'. Under 31 U.S.C. § 5318(g), tipping off a customer that an AML/SAR hold is in place is a federal crime punishable by fines and imprisonment!</a:t>
            </a:r>
          </a:p>
        </p:txBody>
      </p:sp>
      <p:pic>
        <p:nvPicPr>
          <p:cNvPr id="5" name="Picture 4" descr="app8_fintech_dispute_step1.png"/>
          <p:cNvPicPr>
            <a:picLocks noChangeAspect="1"/>
          </p:cNvPicPr>
          <p:nvPr/>
        </p:nvPicPr>
        <p:blipFill>
          <a:blip r:embed="rId2"/>
          <a:stretch>
            <a:fillRect/>
          </a:stretch>
        </p:blipFill>
        <p:spPr>
          <a:xfrm>
            <a:off x="5669280" y="1371600"/>
            <a:ext cx="5788152" cy="50292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20040"/>
            <a:ext cx="7315200" cy="292608"/>
          </a:xfrm>
          <a:prstGeom prst="rect">
            <a:avLst/>
          </a:prstGeom>
          <a:noFill/>
        </p:spPr>
        <p:txBody>
          <a:bodyPr wrap="square">
            <a:spAutoFit/>
          </a:bodyPr>
          <a:lstStyle/>
          <a:p>
            <a:pPr>
              <a:defRPr sz="1000" b="1">
                <a:solidFill>
                  <a:srgbClr val="0284C7"/>
                </a:solidFill>
              </a:defRPr>
            </a:pPr>
            <a:r>
              <a:t>📘 EXAMPLE 02 (PART 2): FINANCIAL CRIME &amp; REGULATION — GROUND TRUTH OUTPUT &amp; DAG</a:t>
            </a:r>
          </a:p>
        </p:txBody>
      </p:sp>
      <p:sp>
        <p:nvSpPr>
          <p:cNvPr id="3" name="TextBox 2"/>
          <p:cNvSpPr txBox="1"/>
          <p:nvPr/>
        </p:nvSpPr>
        <p:spPr>
          <a:xfrm>
            <a:off x="731520" y="594360"/>
            <a:ext cx="10515600" cy="502920"/>
          </a:xfrm>
          <a:prstGeom prst="rect">
            <a:avLst/>
          </a:prstGeom>
          <a:noFill/>
        </p:spPr>
        <p:txBody>
          <a:bodyPr wrap="square">
            <a:spAutoFit/>
          </a:bodyPr>
          <a:lstStyle/>
          <a:p>
            <a:pPr>
              <a:defRPr sz="2100" b="1">
                <a:solidFill>
                  <a:srgbClr val="0F172A"/>
                </a:solidFill>
              </a:defRPr>
            </a:pPr>
            <a:r>
              <a:t>FinTech AML Dispute: Compiled Ground Truth &amp; Flowchart DAG</a:t>
            </a:r>
          </a:p>
        </p:txBody>
      </p:sp>
      <p:sp>
        <p:nvSpPr>
          <p:cNvPr id="4" name="Rounded Rectangle 3"/>
          <p:cNvSpPr/>
          <p:nvPr/>
        </p:nvSpPr>
        <p:spPr>
          <a:xfrm>
            <a:off x="731520" y="1371600"/>
            <a:ext cx="4754880" cy="502920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10B981"/>
                </a:solidFill>
              </a:defRPr>
            </a:pPr>
            <a:r>
              <a:t>🏛️ DERIVED WORLD INVARIANT (TIER 0)</a:t>
            </a:r>
          </a:p>
          <a:p>
            <a:pPr>
              <a:defRPr sz="930">
                <a:solidFill>
                  <a:srgbClr val="0F172A"/>
                </a:solidFill>
              </a:defRPr>
            </a:pPr>
            <a:r>
              <a:t>Federal Non-Tipping Invariant (31 U.S.C. § 5318(g)): Agents and customer support are STRICTLY PROHIBITED from tipping off customers about Suspicious Activity Report (SAR) filings or AML freezes.</a:t>
            </a:r>
          </a:p>
          <a:p>
            <a:br/>
            <a:pPr>
              <a:defRPr sz="1050" b="1">
                <a:solidFill>
                  <a:srgbClr val="0284C7"/>
                </a:solidFill>
              </a:defRPr>
            </a:pPr>
            <a:r>
              <a:t>📏 GROUND TRUTH BOUNDS (EXACT LIMITS)</a:t>
            </a:r>
          </a:p>
          <a:p>
            <a:pPr>
              <a:defRPr sz="930">
                <a:solidFill>
                  <a:srgbClr val="0F172A"/>
                </a:solidFill>
              </a:defRPr>
            </a:pPr>
            <a:r>
              <a:t>Instant Tier-1 Provisional Credit: EQUAL TO OR LESS THAN $150.00.</a:t>
            </a:r>
            <a:br/>
            <a:r>
              <a:t>High-Velocity AML Hold Window: exactly 72 HOURS.</a:t>
            </a:r>
            <a:br/>
            <a:r>
              <a:t>Merchant Delivery Proof Rebuttal: strictly 5 business days.</a:t>
            </a:r>
          </a:p>
          <a:p>
            <a:br/>
            <a:pPr>
              <a:defRPr sz="1050" b="1">
                <a:solidFill>
                  <a:srgbClr val="EF4444"/>
                </a:solidFill>
              </a:defRPr>
            </a:pPr>
            <a:r>
              <a:t>⚡ EXECUTABLE DAG &amp; CIRCUIT BREAKER</a:t>
            </a:r>
          </a:p>
          <a:p>
            <a:pPr>
              <a:defRPr sz="930">
                <a:solidFill>
                  <a:srgbClr val="0F172A"/>
                </a:solidFill>
              </a:defRPr>
            </a:pPr>
            <a:r>
              <a:t>The DAG routes claims &lt; $150 to automated reversal. If 24h card velocity exceeds $5,000, it instantly routes into a 72-hour frozen gate. Missing tracking proof triggers automatic merchant forfeiture.</a:t>
            </a:r>
          </a:p>
        </p:txBody>
      </p:sp>
      <p:pic>
        <p:nvPicPr>
          <p:cNvPr id="5" name="Picture 4" descr="app8_fintech_dispute_flowchart.png"/>
          <p:cNvPicPr>
            <a:picLocks noChangeAspect="1"/>
          </p:cNvPicPr>
          <p:nvPr/>
        </p:nvPicPr>
        <p:blipFill>
          <a:blip r:embed="rId2"/>
          <a:stretch>
            <a:fillRect/>
          </a:stretch>
        </p:blipFill>
        <p:spPr>
          <a:xfrm>
            <a:off x="5669280" y="1371600"/>
            <a:ext cx="5788152" cy="50292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20040"/>
            <a:ext cx="7315200" cy="292608"/>
          </a:xfrm>
          <a:prstGeom prst="rect">
            <a:avLst/>
          </a:prstGeom>
          <a:noFill/>
        </p:spPr>
        <p:txBody>
          <a:bodyPr wrap="square">
            <a:spAutoFit/>
          </a:bodyPr>
          <a:lstStyle/>
          <a:p>
            <a:pPr>
              <a:defRPr sz="1000" b="1">
                <a:solidFill>
                  <a:srgbClr val="0284C7"/>
                </a:solidFill>
              </a:defRPr>
            </a:pPr>
            <a:r>
              <a:t>📘 EXAMPLE 03 (PART 1): SITE RELIABILITY ENGINEERING (SRE) — ORIGINAL INPUT INTAKE</a:t>
            </a:r>
          </a:p>
        </p:txBody>
      </p:sp>
      <p:sp>
        <p:nvSpPr>
          <p:cNvPr id="3" name="TextBox 2"/>
          <p:cNvSpPr txBox="1"/>
          <p:nvPr/>
        </p:nvSpPr>
        <p:spPr>
          <a:xfrm>
            <a:off x="731520" y="594360"/>
            <a:ext cx="10515600" cy="502920"/>
          </a:xfrm>
          <a:prstGeom prst="rect">
            <a:avLst/>
          </a:prstGeom>
          <a:noFill/>
        </p:spPr>
        <p:txBody>
          <a:bodyPr wrap="square">
            <a:spAutoFit/>
          </a:bodyPr>
          <a:lstStyle/>
          <a:p>
            <a:pPr>
              <a:defRPr sz="2100" b="1">
                <a:solidFill>
                  <a:srgbClr val="0F172A"/>
                </a:solidFill>
              </a:defRPr>
            </a:pPr>
            <a:r>
              <a:t>Cloud DevOps: Original Ingestion &amp; SRE Runbook</a:t>
            </a:r>
          </a:p>
        </p:txBody>
      </p:sp>
      <p:sp>
        <p:nvSpPr>
          <p:cNvPr id="4" name="Rounded Rectangle 3"/>
          <p:cNvSpPr/>
          <p:nvPr/>
        </p:nvSpPr>
        <p:spPr>
          <a:xfrm>
            <a:off x="731520" y="1371600"/>
            <a:ext cx="4754880" cy="502920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F59E0B"/>
                </a:solidFill>
              </a:defRPr>
            </a:pPr>
            <a:r>
              <a:t>📥 INPUT 1: RAW SOURCE DOCUMENT / SOP</a:t>
            </a:r>
          </a:p>
          <a:p>
            <a:pPr>
              <a:defRPr sz="950" b="1">
                <a:solidFill>
                  <a:srgbClr val="0F172A"/>
                </a:solidFill>
              </a:defRPr>
            </a:pPr>
            <a:r>
              <a:t>Title: SRE-RUN-DB-MIG-2026: Cloud Canary Release &amp; DB Lock Runbook</a:t>
            </a:r>
          </a:p>
          <a:p>
            <a:pPr>
              <a:defRPr sz="900" i="1">
                <a:solidFill>
                  <a:srgbClr val="334155"/>
                </a:solidFill>
              </a:defRPr>
            </a:pPr>
            <a:r>
              <a:t>"§ 1.0 Production Canary Deployment Gate: New microservice artifact builds MUST FIRST route strictly 5% of live production traffic to isolated canary container pods. Canary evaluation duration MUST NOT BE LESS THAN 15 MINUTES (900 seconds) prior to promotion.</a:t>
            </a:r>
            <a:br/>
            <a:r>
              <a:t>§ 2.0 Database Schema Lock Mitigation: DDL migrations (ALTER TABLE, CREATE INDEX) executing against primary transactional relational tables MUST ACQUIRE EXCLUSIVE METADATA LOCKS IN LESS THAN 200 MILLISECONDS. If lock acquisition exceeds 200ms, the migration script MUST IMMEDIATELY ABORT and yield lock queues.</a:t>
            </a:r>
            <a:br/>
            <a:r>
              <a:t>§ 3.0 Automated SRE Rollback Tripwires: If Canary 5xx HTTP error rates exceed 0.05% or P99 request latency degrades by &gt; 20%, automated deployment orchestrators MUST TRIGGER AN INSTANT ROLLBACK."</a:t>
            </a:r>
          </a:p>
          <a:p>
            <a:br/>
            <a:pPr>
              <a:defRPr sz="1050" b="1">
                <a:solidFill>
                  <a:srgbClr val="0284C7"/>
                </a:solidFill>
              </a:defRPr>
            </a:pPr>
            <a:r>
              <a:t>🌐 INPUT 2: WEB ADDRESS / TARGET ENDPOINT</a:t>
            </a:r>
          </a:p>
          <a:p>
            <a:pPr>
              <a:defRPr sz="950" b="1">
                <a:solidFill>
                  <a:srgbClr val="0F172A"/>
                </a:solidFill>
              </a:defRPr>
            </a:pPr>
            <a:r>
              <a:t>URL: https://internal.corp.local/release-console</a:t>
            </a:r>
          </a:p>
          <a:p>
            <a:br/>
            <a:pPr>
              <a:defRPr sz="1050" b="1">
                <a:solidFill>
                  <a:srgbClr val="EF4444"/>
                </a:solidFill>
              </a:defRPr>
            </a:pPr>
            <a:r>
              <a:t>⚠️ WHY NAIVE LLMS FAIL ON THIS INPUT</a:t>
            </a:r>
          </a:p>
          <a:p>
            <a:pPr>
              <a:defRPr sz="919">
                <a:solidFill>
                  <a:srgbClr val="0F172A"/>
                </a:solidFill>
              </a:defRPr>
            </a:pPr>
            <a:r>
              <a:t>During an outage or high-load migration, an LLM might decide to 'retry for 10 seconds' to let the DDL lock acquire. In high-throughput PostgreSQL/Aurora clusters, a 10s metadata lock queues thousands of transactions, cascading into site-wide connection pool collapse.</a:t>
            </a:r>
          </a:p>
        </p:txBody>
      </p:sp>
      <p:pic>
        <p:nvPicPr>
          <p:cNvPr id="5" name="Picture 4" descr="app8_cloud_devops_step1.png"/>
          <p:cNvPicPr>
            <a:picLocks noChangeAspect="1"/>
          </p:cNvPicPr>
          <p:nvPr/>
        </p:nvPicPr>
        <p:blipFill>
          <a:blip r:embed="rId2"/>
          <a:stretch>
            <a:fillRect/>
          </a:stretch>
        </p:blipFill>
        <p:spPr>
          <a:xfrm>
            <a:off x="5669280" y="1371600"/>
            <a:ext cx="5788152" cy="50292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20040"/>
            <a:ext cx="7315200" cy="292608"/>
          </a:xfrm>
          <a:prstGeom prst="rect">
            <a:avLst/>
          </a:prstGeom>
          <a:noFill/>
        </p:spPr>
        <p:txBody>
          <a:bodyPr wrap="square">
            <a:spAutoFit/>
          </a:bodyPr>
          <a:lstStyle/>
          <a:p>
            <a:pPr>
              <a:defRPr sz="1000" b="1">
                <a:solidFill>
                  <a:srgbClr val="0284C7"/>
                </a:solidFill>
              </a:defRPr>
            </a:pPr>
            <a:r>
              <a:t>📘 EXAMPLE 03 (PART 2): SITE RELIABILITY ENGINEERING (SRE) — GROUND TRUTH OUTPUT &amp; DAG</a:t>
            </a:r>
          </a:p>
        </p:txBody>
      </p:sp>
      <p:sp>
        <p:nvSpPr>
          <p:cNvPr id="3" name="TextBox 2"/>
          <p:cNvSpPr txBox="1"/>
          <p:nvPr/>
        </p:nvSpPr>
        <p:spPr>
          <a:xfrm>
            <a:off x="731520" y="594360"/>
            <a:ext cx="10515600" cy="502920"/>
          </a:xfrm>
          <a:prstGeom prst="rect">
            <a:avLst/>
          </a:prstGeom>
          <a:noFill/>
        </p:spPr>
        <p:txBody>
          <a:bodyPr wrap="square">
            <a:spAutoFit/>
          </a:bodyPr>
          <a:lstStyle/>
          <a:p>
            <a:pPr>
              <a:defRPr sz="2100" b="1">
                <a:solidFill>
                  <a:srgbClr val="0F172A"/>
                </a:solidFill>
              </a:defRPr>
            </a:pPr>
            <a:r>
              <a:t>Cloud DevOps: Compiled Ground Truth &amp; Flowchart DAG</a:t>
            </a:r>
          </a:p>
        </p:txBody>
      </p:sp>
      <p:sp>
        <p:nvSpPr>
          <p:cNvPr id="4" name="Rounded Rectangle 3"/>
          <p:cNvSpPr/>
          <p:nvPr/>
        </p:nvSpPr>
        <p:spPr>
          <a:xfrm>
            <a:off x="731520" y="1371600"/>
            <a:ext cx="4754880" cy="502920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F59E0B"/>
                </a:solidFill>
              </a:defRPr>
            </a:pPr>
            <a:r>
              <a:t>🏛️ DERIVED WORLD INVARIANT (TIER 0)</a:t>
            </a:r>
          </a:p>
          <a:p>
            <a:pPr>
              <a:defRPr sz="930">
                <a:solidFill>
                  <a:srgbClr val="0F172A"/>
                </a:solidFill>
              </a:defRPr>
            </a:pPr>
            <a:r>
              <a:t>Production Availability Invariant: 99.99% service uptime supersedes manual operator overrides. Automated rollbacks trigger instantly whenever error budgets or lock latency thresholds drain.</a:t>
            </a:r>
          </a:p>
          <a:p>
            <a:br/>
            <a:pPr>
              <a:defRPr sz="1050" b="1">
                <a:solidFill>
                  <a:srgbClr val="0284C7"/>
                </a:solidFill>
              </a:defRPr>
            </a:pPr>
            <a:r>
              <a:t>📏 GROUND TRUTH BOUNDS (EXACT LIMITS)</a:t>
            </a:r>
          </a:p>
          <a:p>
            <a:pPr>
              <a:defRPr sz="930">
                <a:solidFill>
                  <a:srgbClr val="0F172A"/>
                </a:solidFill>
              </a:defRPr>
            </a:pPr>
            <a:r>
              <a:t>Canary Traffic Proportion: strictly 5% for not less than 15 MINUTES (900s).</a:t>
            </a:r>
            <a:br/>
            <a:r>
              <a:t>Database Migration Metadata Lock: MUST NOT EXCEED 200 MILLISECONDS.</a:t>
            </a:r>
          </a:p>
          <a:p>
            <a:br/>
            <a:pPr>
              <a:defRPr sz="1050" b="1">
                <a:solidFill>
                  <a:srgbClr val="EF4444"/>
                </a:solidFill>
              </a:defRPr>
            </a:pPr>
            <a:r>
              <a:t>⚡ EXECUTABLE DAG &amp; CIRCUIT BREAKER</a:t>
            </a:r>
          </a:p>
          <a:p>
            <a:pPr>
              <a:defRPr sz="930">
                <a:solidFill>
                  <a:srgbClr val="0F172A"/>
                </a:solidFill>
              </a:defRPr>
            </a:pPr>
            <a:r>
              <a:t>The DAG mounts automated tripwires: if DDL migration metadata lock wait exceeds 200ms or Canary 5xx error rate exceeds 0.05%, it immediately aborts migration and triggers an automated instant rollback.</a:t>
            </a:r>
          </a:p>
        </p:txBody>
      </p:sp>
      <p:pic>
        <p:nvPicPr>
          <p:cNvPr id="5" name="Picture 4" descr="app8_cloud_devops_flowchart.png"/>
          <p:cNvPicPr>
            <a:picLocks noChangeAspect="1"/>
          </p:cNvPicPr>
          <p:nvPr/>
        </p:nvPicPr>
        <p:blipFill>
          <a:blip r:embed="rId2"/>
          <a:stretch>
            <a:fillRect/>
          </a:stretch>
        </p:blipFill>
        <p:spPr>
          <a:xfrm>
            <a:off x="5669280" y="1371600"/>
            <a:ext cx="5788152" cy="50292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20040"/>
            <a:ext cx="7315200" cy="292608"/>
          </a:xfrm>
          <a:prstGeom prst="rect">
            <a:avLst/>
          </a:prstGeom>
          <a:noFill/>
        </p:spPr>
        <p:txBody>
          <a:bodyPr wrap="square">
            <a:spAutoFit/>
          </a:bodyPr>
          <a:lstStyle/>
          <a:p>
            <a:pPr>
              <a:defRPr sz="1000" b="1">
                <a:solidFill>
                  <a:srgbClr val="0284C7"/>
                </a:solidFill>
              </a:defRPr>
            </a:pPr>
            <a:r>
              <a:t>📘 EXAMPLE 04 (PART 1): NARRATIVE PHYSICS &amp; FOLKLORE MODELING — ORIGINAL INPUT INTAKE</a:t>
            </a:r>
          </a:p>
        </p:txBody>
      </p:sp>
      <p:sp>
        <p:nvSpPr>
          <p:cNvPr id="3" name="TextBox 2"/>
          <p:cNvSpPr txBox="1"/>
          <p:nvPr/>
        </p:nvSpPr>
        <p:spPr>
          <a:xfrm>
            <a:off x="731520" y="594360"/>
            <a:ext cx="10515600" cy="502920"/>
          </a:xfrm>
          <a:prstGeom prst="rect">
            <a:avLst/>
          </a:prstGeom>
          <a:noFill/>
        </p:spPr>
        <p:txBody>
          <a:bodyPr wrap="square">
            <a:spAutoFit/>
          </a:bodyPr>
          <a:lstStyle/>
          <a:p>
            <a:pPr>
              <a:defRPr sz="2100" b="1">
                <a:solidFill>
                  <a:srgbClr val="0F172A"/>
                </a:solidFill>
              </a:defRPr>
            </a:pPr>
            <a:r>
              <a:t>Literature: Original Novel Excerpt &amp; Web Intake</a:t>
            </a:r>
          </a:p>
        </p:txBody>
      </p:sp>
      <p:sp>
        <p:nvSpPr>
          <p:cNvPr id="4" name="Rounded Rectangle 3"/>
          <p:cNvSpPr/>
          <p:nvPr/>
        </p:nvSpPr>
        <p:spPr>
          <a:xfrm>
            <a:off x="731520" y="1371600"/>
            <a:ext cx="4754880" cy="502920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8B5CF6"/>
                </a:solidFill>
              </a:defRPr>
            </a:pPr>
            <a:r>
              <a:t>📥 INPUT 1: RAW SOURCE DOCUMENT / SOP</a:t>
            </a:r>
          </a:p>
          <a:p>
            <a:pPr>
              <a:defRPr sz="950" b="1">
                <a:solidFill>
                  <a:srgbClr val="0F172A"/>
                </a:solidFill>
              </a:defRPr>
            </a:pPr>
            <a:r>
              <a:t>Title: Where Mountain Meets Moon Wbna33436633 (TODAY.com Excerpt)</a:t>
            </a:r>
          </a:p>
          <a:p>
            <a:pPr>
              <a:defRPr sz="900" i="1">
                <a:solidFill>
                  <a:srgbClr val="334155"/>
                </a:solidFill>
              </a:defRPr>
            </a:pPr>
            <a:r>
              <a:t>"Far away from here, following the Jade River, there was once a black mountain that cut into the sky like a jagged piece of rough metal. The villagers called it Fruitless Mountain because nothing grew on it and birds and animals did not rest there.</a:t>
            </a:r>
            <a:br/>
            <a:r>
              <a:t>Crowded in the corner of where Fruitless Mountain and the Jade River met was a village that was a shade of faded brown... One of the houses in this village was so small that its wood boards, held together by the roof, made one think of a bunch of matches tied with a piece of twine. Inside, there was barely enough room for three people to sit around the table — which was lucky because only three people lived there. One of them was a young girl called Minli.</a:t>
            </a:r>
            <a:br/>
            <a:r>
              <a:t>Minli was not brown and dull like the rest of the village. She had glossy black hair with pink cheeks, shining eyes always eager for adventure, and a fast smile... habit of quick acting."</a:t>
            </a:r>
          </a:p>
          <a:p>
            <a:br/>
            <a:pPr>
              <a:defRPr sz="1050" b="1">
                <a:solidFill>
                  <a:srgbClr val="0284C7"/>
                </a:solidFill>
              </a:defRPr>
            </a:pPr>
            <a:r>
              <a:t>🌐 INPUT 2: WEB ADDRESS / TARGET ENDPOINT</a:t>
            </a:r>
          </a:p>
          <a:p>
            <a:pPr>
              <a:defRPr sz="950" b="1">
                <a:solidFill>
                  <a:srgbClr val="0F172A"/>
                </a:solidFill>
              </a:defRPr>
            </a:pPr>
            <a:r>
              <a:t>URL: https://www.today.com/popculture/where-mountain-meets-moon-wbna33436633</a:t>
            </a:r>
          </a:p>
          <a:p>
            <a:br/>
            <a:pPr>
              <a:defRPr sz="1050" b="1">
                <a:solidFill>
                  <a:srgbClr val="EF4444"/>
                </a:solidFill>
              </a:defRPr>
            </a:pPr>
            <a:r>
              <a:t>⚠️ WHY NAIVE LLMS FAIL ON THIS INPUT</a:t>
            </a:r>
          </a:p>
          <a:p>
            <a:pPr>
              <a:defRPr sz="919">
                <a:solidFill>
                  <a:srgbClr val="0F172A"/>
                </a:solidFill>
              </a:defRPr>
            </a:pPr>
            <a:r>
              <a:t>Standard AI toolchains blindly force corporate telemetry boilerplate ('Enforce cryptographic SSO token interface') onto children's folklore! Ground truth requires adapting to the domain's real 'physics': barren terrain, poverty constraints, and the protagonist's impulsive nature.</a:t>
            </a:r>
          </a:p>
        </p:txBody>
      </p:sp>
      <p:pic>
        <p:nvPicPr>
          <p:cNvPr id="5" name="Picture 4" descr="verified_today_com_step1.png"/>
          <p:cNvPicPr>
            <a:picLocks noChangeAspect="1"/>
          </p:cNvPicPr>
          <p:nvPr/>
        </p:nvPicPr>
        <p:blipFill>
          <a:blip r:embed="rId2"/>
          <a:stretch>
            <a:fillRect/>
          </a:stretch>
        </p:blipFill>
        <p:spPr>
          <a:xfrm>
            <a:off x="5669280" y="1371600"/>
            <a:ext cx="5788152" cy="50292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20040"/>
            <a:ext cx="7315200" cy="292608"/>
          </a:xfrm>
          <a:prstGeom prst="rect">
            <a:avLst/>
          </a:prstGeom>
          <a:noFill/>
        </p:spPr>
        <p:txBody>
          <a:bodyPr wrap="square">
            <a:spAutoFit/>
          </a:bodyPr>
          <a:lstStyle/>
          <a:p>
            <a:pPr>
              <a:defRPr sz="1000" b="1">
                <a:solidFill>
                  <a:srgbClr val="0284C7"/>
                </a:solidFill>
              </a:defRPr>
            </a:pPr>
            <a:r>
              <a:t>📘 EXAMPLE 04 (PART 2): NARRATIVE PHYSICS &amp; FOLKLORE MODELING — GROUND TRUTH OUTPUT &amp; DAG</a:t>
            </a:r>
          </a:p>
        </p:txBody>
      </p:sp>
      <p:sp>
        <p:nvSpPr>
          <p:cNvPr id="3" name="TextBox 2"/>
          <p:cNvSpPr txBox="1"/>
          <p:nvPr/>
        </p:nvSpPr>
        <p:spPr>
          <a:xfrm>
            <a:off x="731520" y="594360"/>
            <a:ext cx="10515600" cy="502920"/>
          </a:xfrm>
          <a:prstGeom prst="rect">
            <a:avLst/>
          </a:prstGeom>
          <a:noFill/>
        </p:spPr>
        <p:txBody>
          <a:bodyPr wrap="square">
            <a:spAutoFit/>
          </a:bodyPr>
          <a:lstStyle/>
          <a:p>
            <a:pPr>
              <a:defRPr sz="2100" b="1">
                <a:solidFill>
                  <a:srgbClr val="0F172A"/>
                </a:solidFill>
              </a:defRPr>
            </a:pPr>
            <a:r>
              <a:t>Literature: Narrative Physics &amp; Hero's Journey DAG</a:t>
            </a:r>
          </a:p>
        </p:txBody>
      </p:sp>
      <p:sp>
        <p:nvSpPr>
          <p:cNvPr id="4" name="Rounded Rectangle 3"/>
          <p:cNvSpPr/>
          <p:nvPr/>
        </p:nvSpPr>
        <p:spPr>
          <a:xfrm>
            <a:off x="731520" y="1371600"/>
            <a:ext cx="4754880" cy="5029200"/>
          </a:xfrm>
          <a:prstGeom prst="roundRect">
            <a:avLst/>
          </a:prstGeom>
          <a:solidFill>
            <a:srgbClr val="F8FAFC"/>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8B5CF6"/>
                </a:solidFill>
              </a:defRPr>
            </a:pPr>
            <a:r>
              <a:t>🏛️ DERIVED WORLD INVARIANT (TIER 0)</a:t>
            </a:r>
          </a:p>
          <a:p>
            <a:pPr>
              <a:defRPr sz="930">
                <a:solidFill>
                  <a:srgbClr val="0F172A"/>
                </a:solidFill>
              </a:defRPr>
            </a:pPr>
            <a:r>
              <a:t>World Invariant: Fruitless Mountain is completely barren; nothing grows on it and birds/animals do not rest there. The mud village land is stubbornly poor. Minli has an impulsive, quick-acting nature.</a:t>
            </a:r>
          </a:p>
          <a:p>
            <a:br/>
            <a:pPr>
              <a:defRPr sz="1050" b="1">
                <a:solidFill>
                  <a:srgbClr val="0284C7"/>
                </a:solidFill>
              </a:defRPr>
            </a:pPr>
            <a:r>
              <a:t>📏 GROUND TRUTH BOUNDS (EXACT LIMITS)</a:t>
            </a:r>
          </a:p>
          <a:p>
            <a:pPr>
              <a:defRPr sz="930">
                <a:solidFill>
                  <a:srgbClr val="0F172A"/>
                </a:solidFill>
              </a:defRPr>
            </a:pPr>
            <a:r>
              <a:t>Exact Family Bounds: only 3 people live in the house (Minli, Father, Mother).</a:t>
            </a:r>
            <a:br/>
            <a:r>
              <a:t>House Bound: tiny boards tied with twine.</a:t>
            </a:r>
            <a:br/>
            <a:r>
              <a:t>Geography: the corner where Fruitless Mountain and Jade River meet.</a:t>
            </a:r>
          </a:p>
          <a:p>
            <a:br/>
            <a:pPr>
              <a:defRPr sz="1050" b="1">
                <a:solidFill>
                  <a:srgbClr val="EF4444"/>
                </a:solidFill>
              </a:defRPr>
            </a:pPr>
            <a:r>
              <a:t>⚡ EXECUTABLE DAG &amp; CIRCUIT BREAKER</a:t>
            </a:r>
          </a:p>
          <a:p>
            <a:pPr>
              <a:defRPr sz="930">
                <a:solidFill>
                  <a:srgbClr val="0F172A"/>
                </a:solidFill>
              </a:defRPr>
            </a:pPr>
            <a:r>
              <a:t>Instead of IT jargon, the DAG maps the real dramatic dilemma: Accept Poverty &amp; Stagnate vs. Follow Impulsive Spirit and embark on the quest to find the Old Man of the Moon to change her family's fortune.</a:t>
            </a:r>
          </a:p>
        </p:txBody>
      </p:sp>
      <p:pic>
        <p:nvPicPr>
          <p:cNvPr id="5" name="Picture 4" descr="verified_flowchart_expanded_big.png"/>
          <p:cNvPicPr>
            <a:picLocks noChangeAspect="1"/>
          </p:cNvPicPr>
          <p:nvPr/>
        </p:nvPicPr>
        <p:blipFill>
          <a:blip r:embed="rId2"/>
          <a:stretch>
            <a:fillRect/>
          </a:stretch>
        </p:blipFill>
        <p:spPr>
          <a:xfrm>
            <a:off x="5669280" y="1371600"/>
            <a:ext cx="5788152" cy="50292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20040"/>
            <a:ext cx="7315200" cy="292608"/>
          </a:xfrm>
          <a:prstGeom prst="rect">
            <a:avLst/>
          </a:prstGeom>
          <a:noFill/>
        </p:spPr>
        <p:txBody>
          <a:bodyPr wrap="square">
            <a:spAutoFit/>
          </a:bodyPr>
          <a:lstStyle/>
          <a:p>
            <a:pPr>
              <a:defRPr sz="1000" b="1">
                <a:solidFill>
                  <a:srgbClr val="0284C7"/>
                </a:solidFill>
              </a:defRPr>
            </a:pPr>
            <a:r>
              <a:t>📘 GROUNDTRUTH ARCHITECTURE PRINCIPLES</a:t>
            </a:r>
          </a:p>
        </p:txBody>
      </p:sp>
      <p:sp>
        <p:nvSpPr>
          <p:cNvPr id="3" name="TextBox 2"/>
          <p:cNvSpPr txBox="1"/>
          <p:nvPr/>
        </p:nvSpPr>
        <p:spPr>
          <a:xfrm>
            <a:off x="731520" y="594360"/>
            <a:ext cx="10515600" cy="502920"/>
          </a:xfrm>
          <a:prstGeom prst="rect">
            <a:avLst/>
          </a:prstGeom>
          <a:noFill/>
        </p:spPr>
        <p:txBody>
          <a:bodyPr wrap="square">
            <a:spAutoFit/>
          </a:bodyPr>
          <a:lstStyle/>
          <a:p>
            <a:pPr>
              <a:defRPr sz="2100" b="1">
                <a:solidFill>
                  <a:srgbClr val="0F172A"/>
                </a:solidFill>
              </a:defRPr>
            </a:pPr>
            <a:r>
              <a:t>The GroundTruth Formula: From Raw Input to Reliable Agent</a:t>
            </a:r>
          </a:p>
        </p:txBody>
      </p:sp>
      <p:sp>
        <p:nvSpPr>
          <p:cNvPr id="4" name="TextBox 3"/>
          <p:cNvSpPr txBox="1"/>
          <p:nvPr/>
        </p:nvSpPr>
        <p:spPr>
          <a:xfrm>
            <a:off x="731520" y="1078992"/>
            <a:ext cx="10515600" cy="292608"/>
          </a:xfrm>
          <a:prstGeom prst="rect">
            <a:avLst/>
          </a:prstGeom>
          <a:noFill/>
        </p:spPr>
        <p:txBody>
          <a:bodyPr wrap="square">
            <a:spAutoFit/>
          </a:bodyPr>
          <a:lstStyle/>
          <a:p>
            <a:pPr>
              <a:defRPr sz="1100">
                <a:solidFill>
                  <a:srgbClr val="64748B"/>
                </a:solidFill>
              </a:defRPr>
            </a:pPr>
            <a:r>
              <a:t>How the 5-Tier Policy Tree and DAG Circuit Breakers eliminate hallucination across any domain.</a:t>
            </a:r>
          </a:p>
        </p:txBody>
      </p:sp>
      <p:sp>
        <p:nvSpPr>
          <p:cNvPr id="5" name="Rounded Rectangle 4"/>
          <p:cNvSpPr/>
          <p:nvPr/>
        </p:nvSpPr>
        <p:spPr>
          <a:xfrm>
            <a:off x="731520" y="1463040"/>
            <a:ext cx="10728655" cy="4754880"/>
          </a:xfrm>
          <a:prstGeom prst="roundRect">
            <a:avLst/>
          </a:prstGeom>
          <a:solidFill>
            <a:srgbClr val="F8FAFC"/>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0284C7"/>
                </a:solidFill>
              </a:defRPr>
            </a:pPr>
            <a:r>
              <a:t>🎯 4 KEY TAKEAWAYS FOR ENTERPRISE AI ARCHITECTS</a:t>
            </a:r>
          </a:p>
          <a:p>
            <a:br/>
            <a:pPr>
              <a:defRPr sz="1100" b="1">
                <a:solidFill>
                  <a:srgbClr val="0F172A"/>
                </a:solidFill>
              </a:defRPr>
            </a:pPr>
            <a:r>
              <a:t>• 1. The Core Principle: Capture Essentials to Prevent Deviation</a:t>
            </a:r>
          </a:p>
          <a:p>
            <a:pPr>
              <a:defRPr sz="1000">
                <a:solidFill>
                  <a:srgbClr val="475569"/>
                </a:solidFill>
              </a:defRPr>
            </a:pPr>
            <a:r>
              <a:t>   The fundamental principle is to capture the essentials of the text so that downstream interpretation will never deviate away from the ground truth. Anchoring root invariants eliminates prompt drift across any domain.</a:t>
            </a:r>
          </a:p>
          <a:p>
            <a:br/>
            <a:pPr>
              <a:defRPr sz="1100" b="1">
                <a:solidFill>
                  <a:srgbClr val="0F172A"/>
                </a:solidFill>
              </a:defRPr>
            </a:pPr>
            <a:r>
              <a:t>• 2. Zero Hallucinated Numbers — Respect Algebraic Bounds</a:t>
            </a:r>
          </a:p>
          <a:p>
            <a:pPr>
              <a:defRPr sz="1000">
                <a:solidFill>
                  <a:srgbClr val="475569"/>
                </a:solidFill>
              </a:defRPr>
            </a:pPr>
            <a:r>
              <a:t>   If a source doesn't specify physical constants, keep them algebraic. Inventing 42 kPa or $1.5% from thin air is a catastrophic failure of ground truth.</a:t>
            </a:r>
          </a:p>
          <a:p>
            <a:br/>
            <a:pPr>
              <a:defRPr sz="1100" b="1">
                <a:solidFill>
                  <a:srgbClr val="0F172A"/>
                </a:solidFill>
              </a:defRPr>
            </a:pPr>
            <a:r>
              <a:t>• 3. The 5-Tier Policy Hierarchy Bridges Any Domain</a:t>
            </a:r>
          </a:p>
          <a:p>
            <a:pPr>
              <a:defRPr sz="1000">
                <a:solidFill>
                  <a:srgbClr val="475569"/>
                </a:solidFill>
              </a:defRPr>
            </a:pPr>
            <a:r>
              <a:t>   Root Invariants ➔ Scoped Directives ➔ Execution Rules ➔ Parameter Bounds ➔ Dead Ends provides an immutable contract layer for both engineering runbooks and story plots.</a:t>
            </a:r>
          </a:p>
          <a:p>
            <a:br/>
            <a:pPr>
              <a:defRPr sz="1100" b="1">
                <a:solidFill>
                  <a:srgbClr val="0F172A"/>
                </a:solidFill>
              </a:defRPr>
            </a:pPr>
            <a:r>
              <a:t>• 4. Circuit-Breaker DAGs Enforce Deterministic Safety</a:t>
            </a:r>
          </a:p>
          <a:p>
            <a:pPr>
              <a:defRPr sz="1000">
                <a:solidFill>
                  <a:srgbClr val="475569"/>
                </a:solidFill>
              </a:defRPr>
            </a:pPr>
            <a:r>
              <a:t>   By compiling invariants directly into LangGraph decision nodes and tripwire terminals, agents are evaluated and constrained by a deterministic hidden answer key.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