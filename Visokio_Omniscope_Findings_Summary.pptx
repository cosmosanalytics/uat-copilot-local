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94360"/>
            <a:ext cx="512064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49377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VISOKIO OMNISCOPE CHAMPION • LINKEDIN RESEARCH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78992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Building Production-Grade AI &amp; Concurrent Planning Products in Visokio Omniscope</a:t>
            </a:r>
          </a:p>
          <a:p>
            <a:pPr>
              <a:defRPr sz="1350">
                <a:solidFill>
                  <a:srgbClr val="94A3B8"/>
                </a:solidFill>
                <a:latin typeface="Calibri"/>
              </a:defRPr>
            </a:pPr>
            <a:r>
              <a:t>A Comprehensive Summary of Findings, Architectural Discoveries, and Live Optimization Prototypes Across My LinkedIn Series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97480"/>
            <a:ext cx="10789920" cy="65836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70632"/>
            <a:ext cx="10424160" cy="512064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Dr. Zhaoyang Wan, Ph.D., MBA  |  </a:t>
            </a:r>
            <a:r>
              <a:rPr sz="1200">
                <a:solidFill>
                  <a:srgbClr val="38BDF8"/>
                </a:solidFill>
                <a:latin typeface="Calibri"/>
              </a:rPr>
              <a:t>Visokio Omniscope Champion • Operations Research &amp; Dynamic Optimization Scientist • 20+ Years Global S&amp;OP &amp; Kinaxis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611880"/>
            <a:ext cx="2578608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73075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284C7"/>
                </a:solidFill>
                <a:latin typeface="Calibri"/>
              </a:defRPr>
            </a:pPr>
            <a:r>
              <a:t>PILLAR 1 • PLATFORM ADVANTAGES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6 Reasons Omniscope Wins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Simple, predictable licensing cost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Spec-to-Workflow AI acceleration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Visual DAG process transparency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Groups, Macros, Python/JS &amp; White-Label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611880"/>
            <a:ext cx="2578608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373075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D9488"/>
                </a:solidFill>
                <a:latin typeface="Calibri"/>
              </a:defRPr>
            </a:pPr>
            <a:r>
              <a:t>PILLAR 2 • AGENTIC DEVELOPMENT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Workflow &amp; Report Ninjas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1:1 SCP Functional Spec block grouping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Hierarchical Macro decomposition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Cross-workflow Multi-Agent collaboration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External Domain Agent + Native Ninja synergy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11880"/>
            <a:ext cx="2578608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373075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EA580C"/>
                </a:solidFill>
                <a:latin typeface="Calibri"/>
              </a:defRPr>
            </a:pPr>
            <a:r>
              <a:t>PILLAR 3 • CORE ARCHITECTURE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Concurrency &amp; Scenarios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Batch DAG vs. Live Formula Chain split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Single edit ripples across 7 tabs live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True 3-part Scenario Engine (Data Table + For Each + If Then Split)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611880"/>
            <a:ext cx="2578608" cy="2697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3730752"/>
            <a:ext cx="22860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059669"/>
                </a:solidFill>
                <a:latin typeface="Calibri"/>
              </a:defRPr>
            </a:pPr>
            <a:r>
              <a:t>PILLAR 4 • LIVE PROTOTYPES &amp; ROI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Verified Quantified Impact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SETPOINT: -34.1% cost cut &amp; $18 vs $40 hedge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Resilient Network: ~100ms live tariff MILP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Menu Pricing: +6.5% revenue uplift (IC/IR)</a:t>
            </a:r>
          </a:p>
          <a:p>
            <a:pPr>
              <a:spcAft>
                <a:spcPts val="400"/>
              </a:spcAft>
              <a:defRPr sz="1000">
                <a:solidFill>
                  <a:srgbClr val="CBD5E1"/>
                </a:solidFill>
                <a:latin typeface="Calibri"/>
              </a:defRPr>
            </a:pPr>
            <a:r>
              <a:t>• 4-Layer Enterprise AI Defense 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1 • LINKEDIN POSTER SERIES: 'BUILD PRODUCTION-GRADE AI PRODUCTS IN OMNISCOPE'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Why I Love Developing in Visokio Omniscope: 6 Core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Synthesized from my featured LinkedIn infographic on why Omniscope is a premier host for production-grade AI &amp; decision apps.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16736"/>
            <a:ext cx="361188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361188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44752"/>
            <a:ext cx="3282696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ADVANTAGE 01 • ECONOMICS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Simple, Predictable Cost Structure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Zero Enterprise Bloat: </a:t>
            </a:r>
            <a:r>
              <a:rPr sz="880" b="0">
                <a:solidFill>
                  <a:srgbClr val="475569"/>
                </a:solidFill>
                <a:latin typeface="Calibri"/>
              </a:rPr>
              <a:t>Transparent licensing eliminates the multi-million-dollar per-module tax common in legacy SCP suites.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High ROI Time-to-Value: </a:t>
            </a:r>
            <a:r>
              <a:rPr sz="880" b="0">
                <a:solidFill>
                  <a:srgbClr val="475569"/>
                </a:solidFill>
                <a:latin typeface="Calibri"/>
              </a:rPr>
              <a:t>Delivers working production applications in days rather than 6–12+ month enterprise rollouts.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Accessible Scaling: </a:t>
            </a:r>
            <a:r>
              <a:rPr sz="880" b="0">
                <a:solidFill>
                  <a:srgbClr val="475569"/>
                </a:solidFill>
                <a:latin typeface="Calibri"/>
              </a:rPr>
              <a:t>Ideal for mid-market leaders, consulting practices, and agile enterprise analytics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316736"/>
            <a:ext cx="361188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316736"/>
            <a:ext cx="36118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7" y="1444752"/>
            <a:ext cx="3282696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7C3AED"/>
                </a:solidFill>
                <a:latin typeface="Calibri"/>
              </a:defRPr>
            </a:pPr>
            <a:r>
              <a:t>ADVANTAGE 02 • AI VELOCITY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AI-Assisted Spec-to-Product Build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Beyond Low-Code / No-Code: </a:t>
            </a:r>
            <a:r>
              <a:rPr sz="880" b="0">
                <a:solidFill>
                  <a:srgbClr val="475569"/>
                </a:solidFill>
                <a:latin typeface="Calibri"/>
              </a:rPr>
              <a:t>Elevates development from manual drag-and-drop to generating pipelines directly from functional specs.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Workflow &amp; Report Ninjas: </a:t>
            </a:r>
            <a:r>
              <a:rPr sz="880" b="0">
                <a:solidFill>
                  <a:srgbClr val="475569"/>
                </a:solidFill>
                <a:latin typeface="Calibri"/>
              </a:rPr>
              <a:t>Native AI agents interpret business intent, wire data blocks, and assemble interactive dashboards.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Rapid Iteration: </a:t>
            </a:r>
            <a:r>
              <a:rPr sz="880" b="0">
                <a:solidFill>
                  <a:srgbClr val="475569"/>
                </a:solidFill>
                <a:latin typeface="Calibri"/>
              </a:rPr>
              <a:t>Compresses requirements-to-prototype cycles from weeks into a single interactive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316736"/>
            <a:ext cx="361188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316736"/>
            <a:ext cx="36118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444752"/>
            <a:ext cx="3282696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D9488"/>
                </a:solidFill>
                <a:latin typeface="Calibri"/>
              </a:defRPr>
            </a:pPr>
            <a:r>
              <a:t>ADVANTAGE 03 • TRANSPARENCY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Flow Diagrams Mirror Real Processes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1:1 Physical Process Mapping: </a:t>
            </a:r>
            <a:r>
              <a:rPr sz="880" b="0">
                <a:solidFill>
                  <a:srgbClr val="475569"/>
                </a:solidFill>
                <a:latin typeface="Calibri"/>
              </a:rPr>
              <a:t>Directed acyclic graph (DAG) canvas visually mirrors real-world supply chain and financial flows.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No Black-Box Decisions: </a:t>
            </a:r>
            <a:r>
              <a:rPr sz="880" b="0">
                <a:solidFill>
                  <a:srgbClr val="475569"/>
                </a:solidFill>
                <a:latin typeface="Calibri"/>
              </a:rPr>
              <a:t>Every transformation, join, netting rule, and constraint is visually inspectable and auditable.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Executive &amp; Analyst Alignment: </a:t>
            </a:r>
            <a:r>
              <a:rPr sz="880" b="0">
                <a:solidFill>
                  <a:srgbClr val="475569"/>
                </a:solidFill>
                <a:latin typeface="Calibri"/>
              </a:rPr>
              <a:t>Stakeholders can trace numbers from raw ERP inputs to final executive KPIs on one screen.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9312"/>
            <a:ext cx="361188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39312"/>
            <a:ext cx="361188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767328"/>
            <a:ext cx="3282696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  <a:latin typeface="Calibri"/>
              </a:defRPr>
            </a:pPr>
            <a:r>
              <a:t>ADVANTAGE 04 • ARCHITECTURE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Multi-Level Abstraction (Groups &amp; Macros)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Block Grouping for Clarity: </a:t>
            </a:r>
            <a:r>
              <a:rPr sz="880" b="0">
                <a:solidFill>
                  <a:srgbClr val="475569"/>
                </a:solidFill>
                <a:latin typeface="Calibri"/>
              </a:rPr>
              <a:t>Group workflow blocks by functional spec stage so the high-level architecture reads like a blueprint.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Macro Encapsulation: </a:t>
            </a:r>
            <a:r>
              <a:rPr sz="880" b="0">
                <a:solidFill>
                  <a:srgbClr val="475569"/>
                </a:solidFill>
                <a:latin typeface="Calibri"/>
              </a:rPr>
              <a:t>Hide intricate multi-step calculations inside parameterized, reusable Macro blocks.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Zoom-Level Readability: </a:t>
            </a:r>
            <a:r>
              <a:rPr sz="880" b="0">
                <a:solidFill>
                  <a:srgbClr val="475569"/>
                </a:solidFill>
                <a:latin typeface="Calibri"/>
              </a:rPr>
              <a:t>Executives view the clean top-level stage pipeline; engineers drill into child macros for deep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8536" y="3639312"/>
            <a:ext cx="361188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8536" y="3639312"/>
            <a:ext cx="36118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7" y="3767328"/>
            <a:ext cx="3282696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ADVANTAGE 05 • EXTENSIBILITY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Custom Python/R Code &amp; HTML/JS Views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Heavy Mathematical Solvers: </a:t>
            </a:r>
            <a:r>
              <a:rPr sz="880" b="0">
                <a:solidFill>
                  <a:srgbClr val="475569"/>
                </a:solidFill>
                <a:latin typeface="Calibri"/>
              </a:rPr>
              <a:t>Execute Python/R blocks natively for StatsForecast, scikit-learn, and HiGHS/Pyomo MILP models.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Bespoke Interactive Views: </a:t>
            </a:r>
            <a:r>
              <a:rPr sz="880" b="0">
                <a:solidFill>
                  <a:srgbClr val="475569"/>
                </a:solidFill>
                <a:latin typeface="Calibri"/>
              </a:rPr>
              <a:t>Build custom HTML5/JavaScript/WebAssembly/WebGPU views for sub-100ms interactive sliders.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Best of Both Worlds: </a:t>
            </a:r>
            <a:r>
              <a:rPr sz="880" b="0">
                <a:solidFill>
                  <a:srgbClr val="475569"/>
                </a:solidFill>
                <a:latin typeface="Calibri"/>
              </a:rPr>
              <a:t>Combines no-code ETL governance with unrestricted full-stack algorithmic freedom.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3639312"/>
            <a:ext cx="3611880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74152" y="3639312"/>
            <a:ext cx="3611880" cy="640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3767328"/>
            <a:ext cx="3282696" cy="20299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11D48"/>
                </a:solidFill>
                <a:latin typeface="Calibri"/>
              </a:defRPr>
            </a:pPr>
            <a:r>
              <a:t>ADVANTAGE 06 • COMMERCIALIZATION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White-Label Rebranding &amp; Delivery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Turn-Key SaaS Packaging: </a:t>
            </a:r>
            <a:r>
              <a:rPr sz="880" b="0">
                <a:solidFill>
                  <a:srgbClr val="475569"/>
                </a:solidFill>
                <a:latin typeface="Calibri"/>
              </a:rPr>
              <a:t>Full white-label rebranding replaces platform chrome with custom client logos, themes, and domains.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Role-Based Client Portals: </a:t>
            </a:r>
            <a:r>
              <a:rPr sz="880" b="0">
                <a:solidFill>
                  <a:srgbClr val="475569"/>
                </a:solidFill>
                <a:latin typeface="Calibri"/>
              </a:rPr>
              <a:t>Deliver tailored multi-tenant or external client decision apps without exposing raw backend plumbing.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F172A"/>
                </a:solidFill>
                <a:latin typeface="Calibri"/>
              </a:rPr>
              <a:t>• Commercial Product Readiness: </a:t>
            </a:r>
            <a:r>
              <a:rPr sz="880" b="0">
                <a:solidFill>
                  <a:srgbClr val="475569"/>
                </a:solidFill>
                <a:latin typeface="Calibri"/>
              </a:rPr>
              <a:t>Turns internal analytical models into polished, monetizable software products.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Core Positioning Insight: </a:t>
            </a:r>
            <a:r>
              <a:rPr sz="1100" b="0">
                <a:solidFill>
                  <a:srgbClr val="FFFFFF"/>
                </a:solidFill>
                <a:latin typeface="Calibri"/>
              </a:rPr>
              <a:t>Omniscope isn't just a BI dashboard tool—when paired with Workflow Ninja and custom Python/JS views, it becomes a full production AI &amp; optimization product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2 • ARCHITECTURAL COMPARISON: EXTERNAL DOMAIN AGENT VS. NATIVE OMNISCOPE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Two Complementary Ways to Build with AI in Visokio Omniscope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My experience as an Omniscope Champion combining external frontier coding agents with internal Workflow Ninja &amp; Report Ninja.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40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544068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5111496" cy="2660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APPROACH 1 • EXTERNAL FRONTIER AGENT (CLAUDE / GEMINI)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Wide-Scope System Architect &amp; Custom Code Synthesizer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How It Connects: </a:t>
            </a:r>
            <a:r>
              <a:rPr sz="1019" b="0">
                <a:solidFill>
                  <a:srgbClr val="475569"/>
                </a:solidFill>
                <a:latin typeface="Calibri"/>
              </a:rPr>
              <a:t>Operates outside Omniscope; interacts via Omniscope's documented REST APIs, project files, workflow JSON schemas, and UI automation.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Primary Strengths: </a:t>
            </a:r>
            <a:r>
              <a:rPr sz="1019" b="0">
                <a:solidFill>
                  <a:srgbClr val="475569"/>
                </a:solidFill>
                <a:latin typeface="Calibri"/>
              </a:rPr>
              <a:t>Authors end-to-end Functional Specifications, formulates complex MILP/MPC equations, and writes custom Python blocks &amp; HTML/JS/WASM views.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Safety &amp; Governance: </a:t>
            </a:r>
            <a:r>
              <a:rPr sz="1019" b="0">
                <a:solidFill>
                  <a:srgbClr val="475569"/>
                </a:solidFill>
                <a:latin typeface="Calibri"/>
              </a:rPr>
              <a:t>Never mutates hidden binary internals—strictly reads/writes inspectable workflow definitions, reports, and documented interfaces.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Cross-System Reach: </a:t>
            </a:r>
            <a:r>
              <a:rPr sz="1019" b="0">
                <a:solidFill>
                  <a:srgbClr val="475569"/>
                </a:solidFill>
                <a:latin typeface="Calibri"/>
              </a:rPr>
              <a:t>Can browse documentation, run external test suites, verify mathematical proofs, and version-control artifacts in Git.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53312"/>
            <a:ext cx="5440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353312"/>
            <a:ext cx="54406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81328"/>
            <a:ext cx="5111496" cy="2660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D9488"/>
                </a:solidFill>
                <a:latin typeface="Calibri"/>
              </a:defRPr>
            </a:pPr>
            <a:r>
              <a:t>APPROACH 2 • NATIVE OMNISCOPE AGENTS (WORKFLOW &amp; REPORT NINJA)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Deep Canvas-Native Specialist Inside Omniscope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How It Connects: </a:t>
            </a:r>
            <a:r>
              <a:rPr sz="1019" b="0">
                <a:solidFill>
                  <a:srgbClr val="475569"/>
                </a:solidFill>
                <a:latin typeface="Calibri"/>
              </a:rPr>
              <a:t>Built directly into Omniscope (Insight Explorer, Workflow Ninja, Report Ninja) with Visokio's specialized system instructions.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Primary Strengths: </a:t>
            </a:r>
            <a:r>
              <a:rPr sz="1019" b="0">
                <a:solidFill>
                  <a:srgbClr val="475569"/>
                </a:solidFill>
                <a:latin typeface="Calibri"/>
              </a:rPr>
              <a:t>Instantly wires native Omniscope blocks, configures field aggregations, groups blocks by stage, and builds native visual reports.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Environment Scope: </a:t>
            </a:r>
            <a:r>
              <a:rPr sz="1019" b="0">
                <a:solidFill>
                  <a:srgbClr val="475569"/>
                </a:solidFill>
                <a:latin typeface="Calibri"/>
              </a:rPr>
              <a:t>Lives 100% inside Omniscope—no outside code execution or external browsing, ensuring strict enterprise sandbox containment.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Deployment Requirement: </a:t>
            </a:r>
            <a:r>
              <a:rPr sz="1019" b="0">
                <a:solidFill>
                  <a:srgbClr val="475569"/>
                </a:solidFill>
                <a:latin typeface="Calibri"/>
              </a:rPr>
              <a:t>Enabled on server/cloud instances (e.g., omniscope.app via Google OIDC) with Labs feature, Enterprise license, and AI provider key.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89120"/>
            <a:ext cx="11183112" cy="153619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480560"/>
            <a:ext cx="107899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THE OMNISCOPE CHAMPION POWER WORKFLOW: COMBINING BOTH AGENTS IN TANDEM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▸ Step 1 (External Domain Agent): </a:t>
            </a:r>
            <a:r>
              <a:rPr sz="1050">
                <a:solidFill>
                  <a:srgbClr val="475569"/>
                </a:solidFill>
                <a:latin typeface="Calibri"/>
              </a:rPr>
              <a:t>Drafts the rigorous 9-stage SCP Functional Spec, mathematical MILP formulation, and synthetic validation datasets.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▸ Step 2 (Internal Workflow Ninja): </a:t>
            </a:r>
            <a:r>
              <a:rPr sz="1050">
                <a:solidFill>
                  <a:srgbClr val="475569"/>
                </a:solidFill>
                <a:latin typeface="Calibri"/>
              </a:rPr>
              <a:t>Ingests the Functional Spec directly inside Omniscope to construct, connect, and auto-group all workflow blocks &amp; macros 1:1.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▸ Step 3 (Internal Report Ninja + Custom View): </a:t>
            </a:r>
            <a:r>
              <a:rPr sz="1050">
                <a:solidFill>
                  <a:srgbClr val="475569"/>
                </a:solidFill>
                <a:latin typeface="Calibri"/>
              </a:rPr>
              <a:t>Generates executive KPI tabs and embeds custom HTML/JS/HiGHS interactive optimization views for live decision-making.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Practical Takeaway: </a:t>
            </a:r>
            <a:r>
              <a:rPr sz="1100" b="0">
                <a:solidFill>
                  <a:srgbClr val="FFFFFF"/>
                </a:solidFill>
                <a:latin typeface="Calibri"/>
              </a:rPr>
              <a:t>Note from my local vs. cloud setup finding: 'Ask the Workflow Ninja' requires a server/cloud AI provider configuration (like omniscope.app), whereas local desktop installs need explicit AI API wiring.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3 • LINKEDIN TRILOGY ON WORKFLOW NINJA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Spec-Driven Block Grouping, Macro Decomposition &amp; Multi-Agent Ninjas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Why collaborating with Workflow Ninja genuinely feels like working alongside a seasoned human analyst.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361188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32826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POST 1 • LIVING SPEC ALIGNMENT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Auto-Grouping Blocks by SCP Spec Stages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Direct Spec Ingestion: </a:t>
            </a:r>
            <a:r>
              <a:rPr sz="1050" b="0">
                <a:solidFill>
                  <a:srgbClr val="475569"/>
                </a:solidFill>
                <a:latin typeface="Calibri"/>
              </a:rPr>
              <a:t>When Workflow Ninja develops from a functional spec, it absorbs every stage, concept, and business rule in context.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One-Sentence Command: </a:t>
            </a:r>
            <a:r>
              <a:rPr sz="1050" b="0">
                <a:solidFill>
                  <a:srgbClr val="475569"/>
                </a:solidFill>
                <a:latin typeface="Calibri"/>
              </a:rPr>
              <a:t>Simply instruct: 'Group the blocks according to the spec stages'—and Ninja reorganizes the canvas layout automatically.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1:1 Traceability: </a:t>
            </a:r>
            <a:r>
              <a:rPr sz="1050" b="0">
                <a:solidFill>
                  <a:srgbClr val="475569"/>
                </a:solidFill>
                <a:latin typeface="Calibri"/>
              </a:rPr>
              <a:t>Data Ingestion, Conditioning, Forecast Netting, MILP Solver, and Output stages mirror the written document 1:1.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Audit &amp; Handoff Ready: </a:t>
            </a:r>
            <a:r>
              <a:rPr sz="1050" b="0">
                <a:solidFill>
                  <a:srgbClr val="475569"/>
                </a:solidFill>
                <a:latin typeface="Calibri"/>
              </a:rPr>
              <a:t>Eliminates spaghetti workflows; any auditor or new engineer can read the canvas like a structured architectural diagram.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353312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353312"/>
            <a:ext cx="36118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7" y="1481328"/>
            <a:ext cx="32826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D9488"/>
                </a:solidFill>
                <a:latin typeface="Calibri"/>
              </a:defRPr>
            </a:pPr>
            <a:r>
              <a:t>POST 2 • MODULAR ABSTRACTION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Decomposing Entire SCP Workflows into Macros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Nested Macro Hierarchy: </a:t>
            </a:r>
            <a:r>
              <a:rPr sz="1050" b="0">
                <a:solidFill>
                  <a:srgbClr val="475569"/>
                </a:solidFill>
                <a:latin typeface="Calibri"/>
              </a:rPr>
              <a:t>Wraps an entire end-to-end SCP pipeline into a top-level macro, with each stage encapsulated as a child macro.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Clean at Every Zoom Level: </a:t>
            </a:r>
            <a:r>
              <a:rPr sz="1050" b="0">
                <a:solidFill>
                  <a:srgbClr val="475569"/>
                </a:solidFill>
                <a:latin typeface="Calibri"/>
              </a:rPr>
              <a:t>Zoom out for an executive 9-stage overview; click into any macro block to inspect or edit granular field logic.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Single-Point Propagation: </a:t>
            </a:r>
            <a:r>
              <a:rPr sz="1050" b="0">
                <a:solidFill>
                  <a:srgbClr val="475569"/>
                </a:solidFill>
                <a:latin typeface="Calibri"/>
              </a:rPr>
              <a:t>Shared macros can be reused across projects and versioned independently—updates propagate everywhere automatically.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'Feels Like a Live Person': </a:t>
            </a:r>
            <a:r>
              <a:rPr sz="1050" b="0">
                <a:solidFill>
                  <a:srgbClr val="475569"/>
                </a:solidFill>
                <a:latin typeface="Calibri"/>
              </a:rPr>
              <a:t>The care with which Workflow Ninja names blocks, structures logic, and organizes macros feels remarkably human.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1353312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353312"/>
            <a:ext cx="36118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481328"/>
            <a:ext cx="32826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7C3AED"/>
                </a:solidFill>
                <a:latin typeface="Calibri"/>
              </a:defRPr>
            </a:pPr>
            <a:r>
              <a:t>POST 3 • MULTI-AGENT PLATFORM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Cross-Workflow Ninja-to-Ninja Collaboration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Beyond Single-Canvas AI: </a:t>
            </a:r>
            <a:r>
              <a:rPr sz="1050" b="0">
                <a:solidFill>
                  <a:srgbClr val="475569"/>
                </a:solidFill>
                <a:latin typeface="Calibri"/>
              </a:rPr>
              <a:t>Workflow Ninja instances across separate Omniscope workflows can communicate and pass context to one another.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Distributed Domain Specialists: </a:t>
            </a:r>
            <a:r>
              <a:rPr sz="1050" b="0">
                <a:solidFill>
                  <a:srgbClr val="475569"/>
                </a:solidFill>
                <a:latin typeface="Calibri"/>
              </a:rPr>
              <a:t>A Ninja in Workflow A (Demand Forecasting) hands off conditioned outputs &amp; schemas to a Ninja in Workflow B (Supply MILP).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Mirrors Human Teams: </a:t>
            </a:r>
            <a:r>
              <a:rPr sz="1050" b="0">
                <a:solidFill>
                  <a:srgbClr val="475569"/>
                </a:solidFill>
                <a:latin typeface="Calibri"/>
              </a:rPr>
              <a:t>Replicates how specialist analysts collaborate across departments toward a unified S&amp;OP plan.</a:t>
            </a:r>
          </a:p>
          <a:p>
            <a:pPr>
              <a:spcAft>
                <a:spcPts val="25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• True Agentic Orchestration: </a:t>
            </a:r>
            <a:r>
              <a:rPr sz="1050" b="0">
                <a:solidFill>
                  <a:srgbClr val="475569"/>
                </a:solidFill>
                <a:latin typeface="Calibri"/>
              </a:rPr>
              <a:t>Elevates Omniscope from a workflow automation tool into a living multi-agent development platform.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Personal Reflection from LinkedIn: </a:t>
            </a:r>
            <a:r>
              <a:rPr sz="1100" b="0">
                <a:solidFill>
                  <a:srgbClr val="FFFFFF"/>
                </a:solidFill>
                <a:latin typeface="Calibri"/>
              </a:rPr>
              <a:t>"I genuinely can't help but feel that Workflow Ninja is a live person—it doesn't feel like automation; it feels like collaborating with a seasoned analyst who truly gets the work."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4 • DEEP-DIVE ENGINEERING DISCOVERY: HOW OMNISCOPE ACTUALLY ACHIEVES REAL-TIME S&amp;OP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True Concurrency vs. Batch &amp; The 3-Part Scenario Analysis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Critical architectural findings verified while building the 9-stage concurrent Supply Chain Planning workflow in Omniscope.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544068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51114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DISCOVERY A • HOW CONCURRENCY ACTUALLY WORKS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The Split: Batch Canvas Layer vs. Live Reactive Formula Chain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What Runs in Batch (Workflow Canvas): </a:t>
            </a:r>
            <a:r>
              <a:rPr sz="1019" b="0">
                <a:solidFill>
                  <a:srgbClr val="475569"/>
                </a:solidFill>
                <a:latin typeface="Calibri"/>
              </a:rPr>
              <a:t>Only heavy structural computations run in the batch workflow layer: Stage 1 Statistical Forecast (Calculation block) and Multi-Level BOM Flattening.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What Runs Live (Report Formula Layer): </a:t>
            </a:r>
            <a:r>
              <a:rPr sz="1019" b="0">
                <a:solidFill>
                  <a:srgbClr val="475569"/>
                </a:solidFill>
                <a:latin typeface="Calibri"/>
              </a:rPr>
              <a:t>Downstream stages—Consensus Adjustments, Net Requirements, Capacity Pooling, and Exception Alerts—are wired as live Formula fields reading upstream Sources.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Zero-Execution Ripple Effect (Verified): </a:t>
            </a:r>
            <a:r>
              <a:rPr sz="1019" b="0">
                <a:solidFill>
                  <a:srgbClr val="475569"/>
                </a:solidFill>
                <a:latin typeface="Calibri"/>
              </a:rPr>
              <a:t>Because every link in the chain is a live Formula field reading a live upstream Source, a single user edit ripples across 7 downstream tabs instantaneously.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Empirical Proof in Build: </a:t>
            </a:r>
            <a:r>
              <a:rPr sz="1019" b="0">
                <a:solidFill>
                  <a:srgbClr val="475569"/>
                </a:solidFill>
                <a:latin typeface="Calibri"/>
              </a:rPr>
              <a:t>Editing 'Adjustment' on the Consensus tab immediately updated 'Utilization' on Capacity Pooling and triggered Alert/Ownership rows on Monitor &amp; Owner—with zero workflow re-execution.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Architectural Separation of Concerns: </a:t>
            </a:r>
            <a:r>
              <a:rPr sz="1019" b="0">
                <a:solidFill>
                  <a:srgbClr val="475569"/>
                </a:solidFill>
                <a:latin typeface="Calibri"/>
              </a:rPr>
              <a:t>Never dump static lookup tables (e.g., BOM parameters) into the batch canvas when live report-layer formula chaining provides sub-second concurrency.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53312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353312"/>
            <a:ext cx="5440680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81328"/>
            <a:ext cx="51114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  <a:latin typeface="Calibri"/>
              </a:defRPr>
            </a:pPr>
            <a:r>
              <a:t>DISCOVERY B • MULTI-SCENARIO ARCHITECTURE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Why 'Data Savepoint' Is a Cache—And How Real Scenarios Work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Debunking the 'Data Savepoint' Myth: </a:t>
            </a:r>
            <a:r>
              <a:rPr sz="1019" b="0">
                <a:solidFill>
                  <a:srgbClr val="475569"/>
                </a:solidFill>
                <a:latin typeface="Calibri"/>
              </a:rPr>
              <a:t>Early assumptions suggested using 'Data Savepoint' for scenario promotion. Finding: Data Savepoint is strictly a performance cache with zero concept of 'Private' vs. 'Committed' data.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Primitive 1: Scenario Registry (Data Table Block): </a:t>
            </a:r>
            <a:r>
              <a:rPr sz="1019" b="0">
                <a:solidFill>
                  <a:srgbClr val="475569"/>
                </a:solidFill>
                <a:latin typeface="Calibri"/>
              </a:rPr>
              <a:t>An editable Data Table block storing one row per scenario with columns: ScenarioId, Owner, and Visibility ('Private' vs. 'Committed').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Primitive 2: Iterative Runner (For Each Block): </a:t>
            </a:r>
            <a:r>
              <a:rPr sz="1019" b="0">
                <a:solidFill>
                  <a:srgbClr val="475569"/>
                </a:solidFill>
                <a:latin typeface="Calibri"/>
              </a:rPr>
              <a:t>Iterates over every row in the Scenario Registry, executing the full 9-stage SCP macro chain once per scenario and stamping every output row with its ScenarioId.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Primitive 3: Promotion Router (If Then Split Block): </a:t>
            </a:r>
            <a:r>
              <a:rPr sz="1019" b="0">
                <a:solidFill>
                  <a:srgbClr val="475569"/>
                </a:solidFill>
                <a:latin typeface="Calibri"/>
              </a:rPr>
              <a:t>Evaluates condition Visibility == 'Committed' to route approved baseline scenarios to executive views while keeping planner sandboxes isolated.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Enterprise S&amp;OP Value: </a:t>
            </a:r>
            <a:r>
              <a:rPr sz="1019" b="0">
                <a:solidFill>
                  <a:srgbClr val="475569"/>
                </a:solidFill>
                <a:latin typeface="Calibri"/>
              </a:rPr>
              <a:t>Enables side-by-side comparison of Private planner sandboxes against the Committed plan using 100% documented native Omniscope blocks.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Key Engineering Rule: </a:t>
            </a:r>
            <a:r>
              <a:rPr sz="1100" b="0">
                <a:solidFill>
                  <a:srgbClr val="FFFFFF"/>
                </a:solidFill>
                <a:latin typeface="Calibri"/>
              </a:rPr>
              <a:t>Real-time concurrent planning in Omniscope comes from chaining live Report Formula fields over upstream Sources, while multi-scenario governance uses Data Table + For Each + If Then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5 • FLAGSHIP PROTOTYPE 1: SETPOINT CONCURRENT PLANNING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SETPOINT: 9-Stage State-Space World Model &amp; Closed-Loop MILP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Built on Visokio Omniscope Evo + client-side HiGHS WebAssembly solver to prove closed-loop concurrent optimization.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1179576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Calibri"/>
              </a:defRPr>
            </a:pPr>
            <a:r>
              <a:t>1. StatsForecast</a:t>
            </a:r>
            <a:br/>
            <a:r>
              <a:t>(AutoARIMA/ETS)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1076" y="13533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7652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0F172A"/>
                </a:solidFill>
                <a:latin typeface="Calibri"/>
              </a:defRPr>
            </a:pPr>
            <a:r>
              <a:t>2. Consensus</a:t>
            </a:r>
            <a:br/>
            <a:r>
              <a:t>Demand 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13533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0F172A"/>
                </a:solidFill>
                <a:latin typeface="Calibri"/>
              </a:defRPr>
            </a:pPr>
            <a:r>
              <a:t>3. Forecast</a:t>
            </a:r>
            <a:br/>
            <a:r>
              <a:t>Consumption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7388" y="13533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3964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0F172A"/>
                </a:solidFill>
                <a:latin typeface="Calibri"/>
              </a:defRPr>
            </a:pPr>
            <a:r>
              <a:t>4. Multi-Level</a:t>
            </a:r>
            <a:br/>
            <a:r>
              <a:t>BOM Explosion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95544" y="13533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0F172A"/>
                </a:solidFill>
                <a:latin typeface="Calibri"/>
              </a:defRPr>
            </a:pPr>
            <a:r>
              <a:t>5. MRP Netting</a:t>
            </a:r>
            <a:br/>
            <a:r>
              <a:t>&amp; Order Firming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3700" y="1353312"/>
            <a:ext cx="1179576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0276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Calibri"/>
              </a:defRPr>
            </a:pPr>
            <a:r>
              <a:t>6. Shared</a:t>
            </a:r>
            <a:br/>
            <a:r>
              <a:t>Capacity Pooling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13533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0F172A"/>
                </a:solidFill>
                <a:latin typeface="Calibri"/>
              </a:defRPr>
            </a:pPr>
            <a:r>
              <a:t>7. Dynamic</a:t>
            </a:r>
            <a:br/>
            <a:r>
              <a:t>Safety Stock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40012" y="1353312"/>
            <a:ext cx="1179576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6588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Calibri"/>
              </a:defRPr>
            </a:pPr>
            <a:r>
              <a:t>8. Stochastic</a:t>
            </a:r>
            <a:br/>
            <a:r>
              <a:t>Tariff Hedge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88168" y="1353312"/>
            <a:ext cx="1179576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24744" y="1389888"/>
            <a:ext cx="1106424" cy="64008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defRPr sz="880" b="1">
                <a:solidFill>
                  <a:srgbClr val="0F172A"/>
                </a:solidFill>
                <a:latin typeface="Calibri"/>
              </a:defRPr>
            </a:pPr>
            <a:r>
              <a:t>9. Executive</a:t>
            </a:r>
            <a:br/>
            <a:r>
              <a:t>Monitor &amp;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240280"/>
            <a:ext cx="3657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240280"/>
            <a:ext cx="365760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2368296"/>
            <a:ext cx="3328416" cy="3438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FULLY-OBSERVED WORLD MODEL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11-to-9 Stage State-Space Architecture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Automated StatsForecast Sub-Pipeline: </a:t>
            </a:r>
            <a:r>
              <a:rPr sz="1000" b="0">
                <a:solidFill>
                  <a:srgbClr val="475569"/>
                </a:solidFill>
                <a:latin typeface="Calibri"/>
              </a:rPr>
              <a:t>Outlier clipping, R01–R12 demand classification rules, AutoARIMA / AutoETS / Croston selection, and rolling backtest WMAPE.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Zero Unobserved Hidden States: </a:t>
            </a:r>
            <a:r>
              <a:rPr sz="1000" b="0">
                <a:solidFill>
                  <a:srgbClr val="475569"/>
                </a:solidFill>
                <a:latin typeface="Calibri"/>
              </a:rPr>
              <a:t>Every inventory buffer, WIP queue, BOM pegging link, and capacity shadow price is explicitly observed in Omniscope tables.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Open-Loop vs. Closed-Loop Control: </a:t>
            </a:r>
            <a:r>
              <a:rPr sz="1000" b="0">
                <a:solidFill>
                  <a:srgbClr val="475569"/>
                </a:solidFill>
                <a:latin typeface="Calibri"/>
              </a:rPr>
              <a:t>Demonstrates why sequential department handoffs fail when shared bottlenecks tighten—and how receding-horizon MIP feedback stabilizes the plan.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2240280"/>
            <a:ext cx="35661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2240280"/>
            <a:ext cx="35661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2368296"/>
            <a:ext cx="3236976" cy="3438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QUANTIFIED FINDING #1 • SHARED RESOURCES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34.1% Total Cost Reduction via Concurrent MIP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The Siloed Heuristic Trap: </a:t>
            </a:r>
            <a:r>
              <a:rPr sz="1000" b="0">
                <a:solidFill>
                  <a:srgbClr val="475569"/>
                </a:solidFill>
                <a:latin typeface="Calibri"/>
              </a:rPr>
              <a:t>When Product Line A and Product Line B plan independently on shared manufacturing lines, greedy allocation triggers expensive overtime and expediting.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Concurrent MILP Resolution: </a:t>
            </a:r>
            <a:r>
              <a:rPr sz="1000" b="0">
                <a:solidFill>
                  <a:srgbClr val="475569"/>
                </a:solidFill>
                <a:latin typeface="Calibri"/>
              </a:rPr>
              <a:t>Solving all 9 stages simultaneously via HiGHS WebAssembly re-allocates production lots across periods and pooled resources.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Verified Benchmark Result: </a:t>
            </a:r>
            <a:r>
              <a:rPr sz="1000" b="0">
                <a:solidFill>
                  <a:srgbClr val="475569"/>
                </a:solidFill>
                <a:latin typeface="Calibri"/>
              </a:rPr>
              <a:t>Cuts total supply chain plan cost by 34.1% while maintaining 100% service-level fulfillment across constrained resources.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5" y="2240280"/>
            <a:ext cx="364845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37575" y="2240280"/>
            <a:ext cx="3648456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2167" y="2368296"/>
            <a:ext cx="3319272" cy="3438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A580C"/>
                </a:solidFill>
                <a:latin typeface="Calibri"/>
              </a:defRPr>
            </a:pPr>
            <a:r>
              <a:t>QUANTIFIED FINDING #2 • STOCHASTIC HEDGING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$18 vs. $40 Joint Scenario Tariff Hedge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Pricing Shock Probability Early: </a:t>
            </a:r>
            <a:r>
              <a:rPr sz="1000" b="0">
                <a:solidFill>
                  <a:srgbClr val="475569"/>
                </a:solidFill>
                <a:latin typeface="Calibri"/>
              </a:rPr>
              <a:t>Traditional deterministic plans wait until a tariff or disruption hits—incurring a $40 emergency penalty spike.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Stochastic Two-Stage Hedge: </a:t>
            </a:r>
            <a:r>
              <a:rPr sz="1000" b="0">
                <a:solidFill>
                  <a:srgbClr val="475569"/>
                </a:solidFill>
                <a:latin typeface="Calibri"/>
              </a:rPr>
              <a:t>Jointly optimizing across baseline and disruption scenarios commits a proactive $18 capacity/inventory reservation upfront.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55% Downside Risk Reduction: </a:t>
            </a:r>
            <a:r>
              <a:rPr sz="1000" b="0">
                <a:solidFill>
                  <a:srgbClr val="475569"/>
                </a:solidFill>
                <a:latin typeface="Calibri"/>
              </a:rPr>
              <a:t>Caps worst-case exposure at $18 instead of $40—proving that Omniscope can host prescriptive stochastic optimization live.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SETPOINT Takeaway: </a:t>
            </a:r>
            <a:r>
              <a:rPr sz="1100" b="0">
                <a:solidFill>
                  <a:srgbClr val="FFFFFF"/>
                </a:solidFill>
                <a:latin typeface="Calibri"/>
              </a:rPr>
              <a:t>Combining Omniscope Evo's reactive data pipeline with an embedded HiGHS WebAssembly MILP solver turns passive S&amp;OP dashboards into a closed-loop control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6 • PRESCRIPTIVE OPTIMIZATION APPS: SUPPLY CHAIN RESILIENCE &amp; COMMERCIAL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Live ~100ms Risk-Priced Network Design &amp; Self-Selecting Menu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Two interactive MILP applications demonstrating how custom views + mathematical solvers drive C-suite margin expansion.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54406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81328"/>
            <a:ext cx="51114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D9488"/>
                </a:solidFill>
                <a:latin typeface="Calibri"/>
              </a:defRPr>
            </a:pPr>
            <a:r>
              <a:t>PROTOTYPE 2 • RESILIENT NETWORK OPTIMIZATION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"A Cost Model Tells You What a Plan Costs. This Tells You What It Costs When Something Goes Wrong."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Continuous Risk &amp; Tariff Sliders: </a:t>
            </a:r>
            <a:r>
              <a:rPr sz="1019" b="0">
                <a:solidFill>
                  <a:srgbClr val="475569"/>
                </a:solidFill>
                <a:latin typeface="Calibri"/>
              </a:rPr>
              <a:t>Embeds live sliders for Disruption Probability × Impact and cross-border Tariff Rates directly into the network flow MILP objective.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~100ms In-Browser Re-Optimization: </a:t>
            </a:r>
            <a:r>
              <a:rPr sz="1019" b="0">
                <a:solidFill>
                  <a:srgbClr val="475569"/>
                </a:solidFill>
                <a:latin typeface="Calibri"/>
              </a:rPr>
              <a:t>Re-solves the entire multi-echelon sourcing &amp; routing topology in ~100 milliseconds as executives drag the risk slider.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Structural Resilience Constraints: </a:t>
            </a:r>
            <a:r>
              <a:rPr sz="1019" b="0">
                <a:solidFill>
                  <a:srgbClr val="475569"/>
                </a:solidFill>
                <a:latin typeface="Calibri"/>
              </a:rPr>
              <a:t>Enforces hard supplier concentration caps and mandatory sink redundancy so no single port or plant outage halts fulfillment.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Regime-Shift Tipping Points: </a:t>
            </a:r>
            <a:r>
              <a:rPr sz="1019" b="0">
                <a:solidFill>
                  <a:srgbClr val="475569"/>
                </a:solidFill>
                <a:latin typeface="Calibri"/>
              </a:rPr>
              <a:t>Visually pinpoints the exact tariff percentage or disruption probability where single-sourcing flips to dual-sourcing or near-shoring.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Node vs. Edge Margin Decomposition: </a:t>
            </a:r>
            <a:r>
              <a:rPr sz="1019" b="0">
                <a:solidFill>
                  <a:srgbClr val="475569"/>
                </a:solidFill>
                <a:latin typeface="Calibri"/>
              </a:rPr>
              <a:t>Translates topological network design directly into CFO language: +50 bps from node safety-stock pooling and +50 bps from edge lane consolidation.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53312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353312"/>
            <a:ext cx="54406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81328"/>
            <a:ext cx="51114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7C3AED"/>
                </a:solidFill>
                <a:latin typeface="Calibri"/>
              </a:defRPr>
            </a:pPr>
            <a:r>
              <a:t>PROTOTYPE 3 • OPTIMAL MENU PRICING (SECOND-DEGREE PRICE DISCRIMINATION)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Self-Selecting Good / Better / Best Tier Design with Hard IC &amp; IR Constraints (+6.5% Revenue Uplift)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The Commercial Pricing Problem: </a:t>
            </a:r>
            <a:r>
              <a:rPr sz="1019" b="0">
                <a:solidFill>
                  <a:srgbClr val="475569"/>
                </a:solidFill>
                <a:latin typeface="Calibri"/>
              </a:rPr>
              <a:t>Ad-hoc B2B discounting erodes margin because high-willingness-to-pay buyers cannibalize lower-priced tiers.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Incentive Compatibility (IC) Constraints: </a:t>
            </a:r>
            <a:r>
              <a:rPr sz="1019" b="0">
                <a:solidFill>
                  <a:srgbClr val="475569"/>
                </a:solidFill>
                <a:latin typeface="Calibri"/>
              </a:rPr>
              <a:t>Formulates customer self-selection as hard linear inequalities: every customer segment mathematically prefers the tier designed for them.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Individual Rationality (IR) Constraints: </a:t>
            </a:r>
            <a:r>
              <a:rPr sz="1019" b="0">
                <a:solidFill>
                  <a:srgbClr val="475569"/>
                </a:solidFill>
                <a:latin typeface="Calibri"/>
              </a:rPr>
              <a:t>Guarantees non-negative net surplus for each participating customer segment relative to their outside option.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+6.5% Verified Revenue Uplift: </a:t>
            </a:r>
            <a:r>
              <a:rPr sz="1019" b="0">
                <a:solidFill>
                  <a:srgbClr val="475569"/>
                </a:solidFill>
                <a:latin typeface="Calibri"/>
              </a:rPr>
              <a:t>Benchmarked against historical ad-hoc deal pricing, the MILP-optimized tier menu captures +6.5% higher revenue with zero sales-rep guesswork.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Unified Commercial + Supply Chain S&amp;OP: </a:t>
            </a:r>
            <a:r>
              <a:rPr sz="1019" b="0">
                <a:solidFill>
                  <a:srgbClr val="475569"/>
                </a:solidFill>
                <a:latin typeface="Calibri"/>
              </a:rPr>
              <a:t>Proves that Omniscope can bridge commercial pricing optimization (Demand Shaping) with physical supply chain capacity (Supply Execution).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Architectural Selling Point: </a:t>
            </a:r>
            <a:r>
              <a:rPr sz="1100" b="0">
                <a:solidFill>
                  <a:srgbClr val="FFFFFF"/>
                </a:solidFill>
                <a:latin typeface="Calibri"/>
              </a:rPr>
              <a:t>The browser/server solver split is a major differentiator: run sub-100ms interactive MILP scenario sliders in the browser, and scale seamlessly to server-side Python/HiGHS for millions of 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7 • ENTERPRISE AI SAFETY &amp; RESPONSE TO VISOKIO'S 'DRINKING FROM THE AI FIREHOSE'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4-Layer AI Defense Architecture &amp; Agent Teams for Decision Velocity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How I engineered a production-grade AI Copilot in Omniscope with zero hallucination liability and minimal human wait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53312"/>
            <a:ext cx="553212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09728" cy="10241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44752"/>
            <a:ext cx="5166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284C7"/>
                </a:solidFill>
                <a:latin typeface="Calibri"/>
              </a:defRPr>
            </a:pPr>
            <a:r>
              <a:t>LAYER 1 • STRUCTURAL &amp; SCHEMA VALIDATION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Strict JSON schema, data-type, and referential integrity checks before any LLM output touches Omniscope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87168"/>
            <a:ext cx="553212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87168"/>
            <a:ext cx="109728" cy="10241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5166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D9488"/>
                </a:solidFill>
                <a:latin typeface="Calibri"/>
              </a:defRPr>
            </a:pPr>
            <a:r>
              <a:t>LAYER 2 • DETERMINISTIC MATHEMATICAL GUARDRAILS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Mass-balance conservation laws, BOM stoichiometry, and MILP feasibility circuit-breakers reject invalid AI recommendations.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21024"/>
            <a:ext cx="553212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21024"/>
            <a:ext cx="109728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12463"/>
            <a:ext cx="5166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LAYER 3 • TEST EVIDENCE &amp; FORENSIC LINEAGE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Every AI tool call, reasoning trace, and parameter change is logged against automated UAT checks (modeled on 148-story Kinaxis UAT).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79"/>
            <a:ext cx="553212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754879"/>
            <a:ext cx="109728" cy="10241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19"/>
            <a:ext cx="51663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A580C"/>
                </a:solidFill>
                <a:latin typeface="Calibri"/>
              </a:defRPr>
            </a:pPr>
            <a:r>
              <a:t>LAYER 4 • HUMAN-IN-THE-LOOP APPROVAL GATE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High-impact actions pause in an interactive Approval Queue showing Cost, Latency, SLA, and Risk deltas before promotion.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353312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353312"/>
            <a:ext cx="54406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481328"/>
            <a:ext cx="5111496" cy="430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RESPONSE TO VISOKIO BLOG • 'DRINKING FROM THE AI FIREHOSE'</a:t>
            </a:r>
          </a:p>
          <a:p>
            <a:pPr>
              <a:spcAft>
                <a:spcPts val="400"/>
              </a:spcAft>
              <a:defRPr sz="1350" b="1">
                <a:solidFill>
                  <a:srgbClr val="0F172A"/>
                </a:solidFill>
                <a:latin typeface="Calibri"/>
              </a:defRPr>
            </a:pPr>
            <a:r>
              <a:t>Designing AI Agent Organizations to Eliminate Human Decision Bottlenecks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The 'Grey Area' Problem: </a:t>
            </a:r>
            <a:r>
              <a:rPr sz="1019" b="0">
                <a:solidFill>
                  <a:srgbClr val="475569"/>
                </a:solidFill>
                <a:latin typeface="Calibri"/>
              </a:rPr>
              <a:t>As AI accelerates workflow creation, pipelines increasingly stall in the grey area—waiting hours or days for human sign-off on routine exceptions.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My Thesis &amp; Prototype Response: </a:t>
            </a:r>
            <a:r>
              <a:rPr sz="1019" b="0">
                <a:solidFill>
                  <a:srgbClr val="475569"/>
                </a:solidFill>
                <a:latin typeface="Calibri"/>
              </a:rPr>
              <a:t>Designing structured AI Agent Teams with explicit organizational roles and incentives fills the grey area and minimizes wait time for human decisions.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Dialectical Agent Roles: </a:t>
            </a:r>
            <a:r>
              <a:rPr sz="1019" b="0">
                <a:solidFill>
                  <a:srgbClr val="475569"/>
                </a:solidFill>
                <a:latin typeface="Calibri"/>
              </a:rPr>
              <a:t>An Architect Agent proposes the plan, a Risk/DevSecOps Agent stress-tests failure boundaries, and a Verifier Agent runs deterministic unit tests.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Tiered Autonomy Matrix (A / N / C / H): </a:t>
            </a:r>
            <a:r>
              <a:rPr sz="1019" b="0">
                <a:solidFill>
                  <a:srgbClr val="475569"/>
                </a:solidFill>
                <a:latin typeface="Calibri"/>
              </a:rPr>
              <a:t>Classifies every stage into Auto (A), Notify (N), Gate Confirm (C), or Human-Only (H)—automating 80%+ of low-risk checks safely.</a:t>
            </a:r>
          </a:p>
          <a:p>
            <a:pPr>
              <a:spcAft>
                <a:spcPts val="250"/>
              </a:spcAft>
            </a:pPr>
            <a:r>
              <a:rPr sz="1019" b="1">
                <a:solidFill>
                  <a:srgbClr val="0F172A"/>
                </a:solidFill>
                <a:latin typeface="Calibri"/>
              </a:rPr>
              <a:t>• Time-Windowed Undo Ledger: </a:t>
            </a:r>
            <a:r>
              <a:rPr sz="1019" b="0">
                <a:solidFill>
                  <a:srgbClr val="475569"/>
                </a:solidFill>
                <a:latin typeface="Calibri"/>
              </a:rPr>
              <a:t>Pairs autonomous execution with a 1-click reversible rollback ledger so humans retain ultimate control without slowing velocity.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Enterprise Governance Verdict: </a:t>
            </a:r>
            <a:r>
              <a:rPr sz="1100" b="0">
                <a:solidFill>
                  <a:srgbClr val="FFFFFF"/>
                </a:solidFill>
                <a:latin typeface="Calibri"/>
              </a:rPr>
              <a:t>Yes—you can build production-grade AI products in Omniscope when probabilistic LLM agents are bounded by deterministic MILP math and a 4-layer defense shield.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8 • MARKET STRATEGY &amp; POSITIONING: MAKING SUPPLY CHAIN PLANNING (SCP) A VERTICAL FOR OMNISCOPE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Capturing the $36.4B–$56B Supply Chain Planning Mid-Market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Strategic recommendations from my vertical market research on positioning Omniscope against legacy SCP incumbents.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16736"/>
            <a:ext cx="544068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5440680" cy="640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444752"/>
            <a:ext cx="5111496" cy="19933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E11D48"/>
                </a:solidFill>
                <a:latin typeface="Calibri"/>
              </a:defRPr>
            </a:pPr>
            <a:r>
              <a:t>THE INCUMBENT VULNERABILITY ($36.4B -&gt; $56B MARKET BY 2031)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Where Kinaxis, o9, SAP IBP &amp; Blue Yonder Are Weakest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• 6–12+ Month Rollouts: </a:t>
            </a:r>
            <a:r>
              <a:rPr sz="900" b="0">
                <a:solidFill>
                  <a:srgbClr val="475569"/>
                </a:solidFill>
                <a:latin typeface="Calibri"/>
              </a:rPr>
              <a:t>Enterprise SCP rollouts take 6–12+ months and require dedicated specialist admins—disproportionate for mid-market &amp; agile teams.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• Cost-to-Value Mismatch: </a:t>
            </a:r>
            <a:r>
              <a:rPr sz="900" b="0">
                <a:solidFill>
                  <a:srgbClr val="475569"/>
                </a:solidFill>
                <a:latin typeface="Calibri"/>
              </a:rPr>
              <a:t>Priced for Fortune 500 global conglomerates; mid-market firms pay for rigid complexity they never use.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• Black-Box Opacity: </a:t>
            </a:r>
            <a:r>
              <a:rPr sz="900" b="0">
                <a:solidFill>
                  <a:srgbClr val="475569"/>
                </a:solidFill>
                <a:latin typeface="Calibri"/>
              </a:rPr>
              <a:t>Planners consume outputs without being able to inspect or modify the underlying pipeline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16736"/>
            <a:ext cx="544068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316736"/>
            <a:ext cx="544068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444752"/>
            <a:ext cx="5111496" cy="19933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284C7"/>
                </a:solidFill>
                <a:latin typeface="Calibri"/>
              </a:defRPr>
            </a:pPr>
            <a:r>
              <a:t>OMNISCOPE'S DEFENSIBLE WEDGE</a:t>
            </a:r>
          </a:p>
          <a:p>
            <a:pPr>
              <a:spcAft>
                <a:spcPts val="4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"The Only SCP Platform Where You Can Inspect &amp; Audit the Entire Pipeline"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• Transparency Over 'Cheaper Kinaxis': </a:t>
            </a:r>
            <a:r>
              <a:rPr sz="900" b="0">
                <a:solidFill>
                  <a:srgbClr val="475569"/>
                </a:solidFill>
                <a:latin typeface="Calibri"/>
              </a:rPr>
              <a:t>Positioning as 'the only inspectable, glass-box SCP pipeline' is far sharper and more defensible than competing on price alone.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• Target Buyer Persona: </a:t>
            </a:r>
            <a:r>
              <a:rPr sz="900" b="0">
                <a:solidFill>
                  <a:srgbClr val="475569"/>
                </a:solidFill>
                <a:latin typeface="Calibri"/>
              </a:rPr>
              <a:t>Mid-market supply chain leaders, strategy consultants, and quantitative analysts outgrowing fragile Excel macros.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F172A"/>
                </a:solidFill>
                <a:latin typeface="Calibri"/>
              </a:rPr>
              <a:t>• Hybrid Browser/Server Scaling: </a:t>
            </a:r>
            <a:r>
              <a:rPr sz="900" b="0">
                <a:solidFill>
                  <a:srgbClr val="475569"/>
                </a:solidFill>
                <a:latin typeface="Calibri"/>
              </a:rPr>
              <a:t>Interactive browser MILP for instant executive war-gaming + server-side execution for production ERP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75887"/>
            <a:ext cx="2679192" cy="2212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75887"/>
            <a:ext cx="2679192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794760"/>
            <a:ext cx="242316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284C7"/>
                </a:solidFill>
                <a:latin typeface="Calibri"/>
              </a:defRPr>
            </a:pPr>
            <a:r>
              <a:t>TIER 1 • ENTRY WEDGE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Automated Data &amp; Forecasting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Replace manual Excel ETL with inspectable Omniscope blocks + automated StatsForecast (R01–R12 rules &amp; WMAPE backtesting).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675887"/>
            <a:ext cx="2679192" cy="2212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3675887"/>
            <a:ext cx="267919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76" y="3794760"/>
            <a:ext cx="242316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D9488"/>
                </a:solidFill>
                <a:latin typeface="Calibri"/>
              </a:defRPr>
            </a:pPr>
            <a:r>
              <a:t>TIER 2 • CORE S&amp;OP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9-Stage Concurrent Workbench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Add live Formula-chained Consensus, BOM Explosion, MRP Netting, and Capacity Pooling with instant 7-tab ripple updates.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75887"/>
            <a:ext cx="2679192" cy="2212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675887"/>
            <a:ext cx="267919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794760"/>
            <a:ext cx="242316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C3AED"/>
                </a:solidFill>
                <a:latin typeface="Calibri"/>
              </a:defRPr>
            </a:pPr>
            <a:r>
              <a:t>TIER 3 • PRESCRIPTIVE OR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MILP Network &amp; Pricing Sliders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Embed HiGHS MILP solvers for ~100ms tariff/disruption hedging (-34.1% cost) and IC/IR menu pricing (+6.5% revenue).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675887"/>
            <a:ext cx="2679192" cy="22128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675887"/>
            <a:ext cx="267919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3794760"/>
            <a:ext cx="242316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59669"/>
                </a:solidFill>
                <a:latin typeface="Calibri"/>
              </a:defRPr>
            </a:pPr>
            <a:r>
              <a:t>TIER 4 • AGENTIC ENTERPRISE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4-Layer Governed AI Copilot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Deploy multi-agent Workflow/Report Ninjas + 4-Layer Defense Shield + Multi-Scenario Registry (Private vs. Committed).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Go-To-Market Recommendation: </a:t>
            </a:r>
            <a:r>
              <a:rPr sz="1100" b="0">
                <a:solidFill>
                  <a:srgbClr val="FFFFFF"/>
                </a:solidFill>
                <a:latin typeface="Calibri"/>
              </a:rPr>
              <a:t>Present the 4-tier SCP capability as a modular 'Land &amp; Expand' ladder—each tier solves an immediate pain point and naturally upsells the customer to the next 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FINDING 9 • EXECUTIVE MASTER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01168"/>
            <a:ext cx="13533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SLIDE 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Summary of All Findings Across My Visokio Omniscope LinkedIn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Consolidated matrix of capabilities, architectural discoveries, and verified quantitative benchmarks.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98448"/>
          <a:ext cx="111831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5102352"/>
                <a:gridCol w="3108960"/>
              </a:tblGrid>
              <a:tr h="4617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 / LinkedIn Topic</a:t>
                      </a:r>
                    </a:p>
                  </a:txBody>
                  <a:tcPr anchor="ctr" marL="91440" marR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Technical Finding in Visokio Omniscope</a:t>
                      </a:r>
                    </a:p>
                  </a:txBody>
                  <a:tcPr anchor="ctr" marL="91440" marR="9144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 Impact / Proof Point</a:t>
                      </a:r>
                    </a:p>
                  </a:txBody>
                  <a:tcPr anchor="ctr" marL="91440" marR="91440" marT="27432" marB="27432">
                    <a:solidFill>
                      <a:srgbClr val="0F172A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1. Platform Economics &amp; White-Label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Simple cost structure + full white-label rebranding + custom Python/R &amp; HTML/JS views.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Eliminates 6–12 mo ERP bloat; SaaS-ready portals.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2. Hybrid AI Agent Architecture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External Domain Agent (spec/math/code) + Internal Workflow &amp; Report Ninjas (canvas wiring).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End-to-end SCP apps built directly from written specs.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3. Functional Spec Block Grouping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Single prompt ('Group blocks by spec stages') aligns canvas 1:1 with SCP documentation.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100% self-documenting, auditable DAG workflows.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4. Hierarchical Macro Decomposition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Entire 9-stage SCP pipeline decomposed into nested, reusable child Macros + multi-agent Ninjas.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Clean at every zoom level; feels like a live analyst team.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5. Real-Time Concurrency Architecture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Batch workflow layer (Forecast/BOM) separated from Live Report Formula Chain.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1 edit on Consensus ripples across 7 tabs in &lt;1 sec.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6. Multi-Scenario Governance Engine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 Savepoint is cache only; true scenarios use Data Table + For Each + If Then Split.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Clean separation of Private sandboxes vs. Committed plan.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7. SETPOINT Concurrent Control Room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9-stage state-space model + HiGHS WebAssembly MILP solver in Omniscope Evo.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-34.1% total cost cut; $18 vs. $40 tariff shock hedge.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8. Resilient Network &amp; Menu Pricing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Continuous disruption/tariff slider MILP (~100ms) &amp; IC/IR self-selecting pricing tiers.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~100ms browser re-solve; +6.5% revenue uplift.</a:t>
                      </a:r>
                    </a:p>
                  </a:txBody>
                  <a:tcPr anchor="ctr" marL="91440" marR="91440" marT="27432" marB="27432">
                    <a:solidFill>
                      <a:srgbClr val="F1F5F9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9. 4-Layer AI Shield &amp; Agent Teams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Schema + Math Guardrails + Lineage + Human Gate + Dialectical Agent Organizations.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Zero hallucination liability; minimal human wait time.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6080760"/>
            <a:ext cx="11183112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108192"/>
            <a:ext cx="10817352" cy="47548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Calibri"/>
              </a:rPr>
              <a:t>Closing Note (As Shared with Paola &amp; the Visokio Team): </a:t>
            </a:r>
            <a:r>
              <a:rPr sz="1100" b="0">
                <a:solidFill>
                  <a:srgbClr val="FFFFFF"/>
                </a:solidFill>
                <a:latin typeface="Calibri"/>
              </a:rPr>
              <a:t>"With Visokio Omniscope, Workflow Ninja, and Report Ninja, the sky is truly the limit—Omniscope is positioned for exponential growth in AI-driven decision intelligence."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