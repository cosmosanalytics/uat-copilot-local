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4484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EXECUTIVE STRATEGY BRIEFING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</a:defRPr>
            </a:pPr>
            <a:r>
              <a:t>Financial Demand–Supply Process Optimization</a:t>
            </a:r>
          </a:p>
          <a:p>
            <a:pPr>
              <a:spcBef>
                <a:spcPts val="1000"/>
              </a:spcBef>
              <a:defRPr sz="1600">
                <a:solidFill>
                  <a:srgbClr val="93C5FD"/>
                </a:solidFill>
              </a:defRPr>
            </a:pPr>
            <a:r>
              <a:t>Bridging Conventional S&amp;OP, Inventory Science &amp; Network Modeling to Financial Capital Efficiency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931920"/>
            <a:ext cx="292608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406908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Identical Mathematics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t>S&amp;OP Demand/Supply balancing is isomorphic to Asset-Liability Management (ALM).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3931920"/>
            <a:ext cx="292608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406908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Financial BOMs &amp; Safety Stock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t>Product pricing assumptions = BOM recipes; Risk-Based Capital (RBC) = Safety Stock.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3931920"/>
            <a:ext cx="292608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406908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Network Optimization &amp; AI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t>Consolidating risk pools yields √N variance reduction; AI cuts lead-time &amp; pipeline inventory.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532120"/>
            <a:ext cx="9418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Author: Dr. Zhaoyang Wan (Ph.D. Dynamic Optimization, MBA) | Sr. Applied AI &amp; Operations 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FINANCIAL SUPPLY CHAIN &amp; DEMAND-SUPPLY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Core Thesis: S&amp;OP and ALM Share Identical Mathematical DNA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Financial Demand-Supply Process Optimization | Applied AI &amp; Supply Chain Mathematical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2 /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86868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2410C"/>
                </a:solidFill>
              </a:defRPr>
            </a:pPr>
            <a:r>
              <a:t>THE FUNDAMENTAL LAW OF DEMAND-SUPPLY BUFFERING: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Whenever customer demand and supply fulfillment are separated by uncertainty and lead time, a business must hold safety buffers. Manufacturing buffers with physical safety stock; Financial institutions buffer with Risk-Based Capital (RBC).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23160"/>
            <a:ext cx="5212080" cy="37947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6032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1. Conventional Industrial Supply Chain (S&amp;OP)</a:t>
            </a:r>
          </a:p>
          <a:p>
            <a:pPr>
              <a:spcBef>
                <a:spcPts val="600"/>
              </a:spcBef>
              <a:defRPr b="1" sz="1100">
                <a:solidFill>
                  <a:srgbClr val="0F172A"/>
                </a:solidFill>
              </a:defRPr>
            </a:pPr>
            <a:r>
              <a:t>• Demand Stream: </a:t>
            </a:r>
            <a:r>
              <a:rPr b="0">
                <a:solidFill>
                  <a:srgbClr val="475569"/>
                </a:solidFill>
              </a:rPr>
              <a:t>Customer order arrivals, consumption volatility, seasonal demand spikes.</a:t>
            </a:r>
          </a:p>
          <a:p>
            <a:pPr>
              <a:spcBef>
                <a:spcPts val="600"/>
              </a:spcBef>
              <a:defRPr b="1" sz="1100">
                <a:solidFill>
                  <a:srgbClr val="0F172A"/>
                </a:solidFill>
              </a:defRPr>
            </a:pPr>
            <a:r>
              <a:t>• Supply Stream: </a:t>
            </a:r>
            <a:r>
              <a:rPr b="0">
                <a:solidFill>
                  <a:srgbClr val="475569"/>
                </a:solidFill>
              </a:rPr>
              <a:t>Factory capacity, procurement from tier-1/tier-2 suppliers, logistics lead-times.</a:t>
            </a:r>
          </a:p>
          <a:p>
            <a:pPr>
              <a:spcBef>
                <a:spcPts val="600"/>
              </a:spcBef>
              <a:defRPr b="1" sz="1100">
                <a:solidFill>
                  <a:srgbClr val="0F172A"/>
                </a:solidFill>
              </a:defRPr>
            </a:pPr>
            <a:r>
              <a:t>• The Balancing Engine: </a:t>
            </a:r>
            <a:r>
              <a:rPr b="0">
                <a:solidFill>
                  <a:srgbClr val="475569"/>
                </a:solidFill>
              </a:rPr>
              <a:t>Sales &amp; Operations Planning (S&amp;OP) aligns production schedules to unconstrained demand forecasts.</a:t>
            </a:r>
          </a:p>
          <a:p>
            <a:pPr>
              <a:spcBef>
                <a:spcPts val="600"/>
              </a:spcBef>
              <a:defRPr b="1" sz="1100">
                <a:solidFill>
                  <a:srgbClr val="0F172A"/>
                </a:solidFill>
              </a:defRPr>
            </a:pPr>
            <a:r>
              <a:t>• Buffering Mechanism: </a:t>
            </a:r>
            <a:r>
              <a:rPr b="0">
                <a:solidFill>
                  <a:srgbClr val="475569"/>
                </a:solidFill>
              </a:rPr>
              <a:t>Safety Stock (SS = z * σ_L * √L) deployed across distribution centers.</a:t>
            </a:r>
          </a:p>
          <a:p>
            <a:pPr>
              <a:spcBef>
                <a:spcPts val="600"/>
              </a:spcBef>
              <a:defRPr b="1" sz="1100">
                <a:solidFill>
                  <a:srgbClr val="0F172A"/>
                </a:solidFill>
              </a:defRPr>
            </a:pPr>
            <a:r>
              <a:t>• Operational Risk: </a:t>
            </a:r>
            <a:r>
              <a:rPr b="0">
                <a:solidFill>
                  <a:srgbClr val="475569"/>
                </a:solidFill>
              </a:rPr>
              <a:t>Stock-outs (lost sales) vs. Excess inventory carrying costs.</a:t>
            </a:r>
          </a:p>
          <a:p>
            <a:pPr>
              <a:spcBef>
                <a:spcPts val="600"/>
              </a:spcBef>
              <a:defRPr b="1" sz="1100">
                <a:solidFill>
                  <a:srgbClr val="0F172A"/>
                </a:solidFill>
              </a:defRPr>
            </a:pPr>
            <a:r>
              <a:t>• Optimization Goal: </a:t>
            </a:r>
            <a:r>
              <a:rPr b="0">
                <a:solidFill>
                  <a:srgbClr val="475569"/>
                </a:solidFill>
              </a:rPr>
              <a:t>Minimizing Total Cost of Ownership (TCO) subject to Service Level Agreement (OTIF ≥ 98%).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2423160"/>
            <a:ext cx="5212080" cy="37947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0975" y="256032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6534"/>
                </a:solidFill>
              </a:defRPr>
            </a:pPr>
            <a:r>
              <a:t>2. Financial Services Demand–Supply (ALM)</a:t>
            </a:r>
          </a:p>
          <a:p>
            <a:pPr>
              <a:spcBef>
                <a:spcPts val="600"/>
              </a:spcBef>
              <a:defRPr b="1" sz="1100">
                <a:solidFill>
                  <a:srgbClr val="0F172A"/>
                </a:solidFill>
              </a:defRPr>
            </a:pPr>
            <a:r>
              <a:t>• Demand Stream: </a:t>
            </a:r>
            <a:r>
              <a:rPr b="0">
                <a:solidFill>
                  <a:srgbClr val="475569"/>
                </a:solidFill>
              </a:rPr>
              <a:t>Customer policyholder premium inflows, surrender rates, benefit claims.</a:t>
            </a:r>
          </a:p>
          <a:p>
            <a:pPr>
              <a:spcBef>
                <a:spcPts val="600"/>
              </a:spcBef>
              <a:defRPr b="1" sz="1100">
                <a:solidFill>
                  <a:srgbClr val="0F172A"/>
                </a:solidFill>
              </a:defRPr>
            </a:pPr>
            <a:r>
              <a:t>• Supply Stream: </a:t>
            </a:r>
            <a:r>
              <a:rPr b="0">
                <a:solidFill>
                  <a:srgbClr val="475569"/>
                </a:solidFill>
              </a:rPr>
              <a:t>Capital Markets asset returns, bond yields, derivative hedges, reinsurance capacity.</a:t>
            </a:r>
          </a:p>
          <a:p>
            <a:pPr>
              <a:spcBef>
                <a:spcPts val="600"/>
              </a:spcBef>
              <a:defRPr b="1" sz="1100">
                <a:solidFill>
                  <a:srgbClr val="0F172A"/>
                </a:solidFill>
              </a:defRPr>
            </a:pPr>
            <a:r>
              <a:t>• The Balancing Engine: </a:t>
            </a:r>
            <a:r>
              <a:rPr b="0">
                <a:solidFill>
                  <a:srgbClr val="475569"/>
                </a:solidFill>
              </a:rPr>
              <a:t>Asset-Liability Management (ALM) matches stochastic liabilities to cash flow yield streams.</a:t>
            </a:r>
          </a:p>
          <a:p>
            <a:pPr>
              <a:spcBef>
                <a:spcPts val="600"/>
              </a:spcBef>
              <a:defRPr b="1" sz="1100">
                <a:solidFill>
                  <a:srgbClr val="0F172A"/>
                </a:solidFill>
              </a:defRPr>
            </a:pPr>
            <a:r>
              <a:t>• Buffering Mechanism: </a:t>
            </a:r>
            <a:r>
              <a:rPr b="0">
                <a:solidFill>
                  <a:srgbClr val="475569"/>
                </a:solidFill>
              </a:rPr>
              <a:t>Risk-Based Capital (RBC = Σ α_k * V_jk) statutory safety capital.</a:t>
            </a:r>
          </a:p>
          <a:p>
            <a:pPr>
              <a:spcBef>
                <a:spcPts val="600"/>
              </a:spcBef>
              <a:defRPr b="1" sz="1100">
                <a:solidFill>
                  <a:srgbClr val="0F172A"/>
                </a:solidFill>
              </a:defRPr>
            </a:pPr>
            <a:r>
              <a:t>• Operational Risk: </a:t>
            </a:r>
            <a:r>
              <a:rPr b="0">
                <a:solidFill>
                  <a:srgbClr val="475569"/>
                </a:solidFill>
              </a:rPr>
              <a:t>Insolvency / Rating Downgrades vs. Idle trapped capital dragging down ROE.</a:t>
            </a:r>
          </a:p>
          <a:p>
            <a:pPr>
              <a:spcBef>
                <a:spcPts val="600"/>
              </a:spcBef>
              <a:defRPr b="1" sz="1100">
                <a:solidFill>
                  <a:srgbClr val="0F172A"/>
                </a:solidFill>
              </a:defRPr>
            </a:pPr>
            <a:r>
              <a:t>• Optimization Goal: </a:t>
            </a:r>
            <a:r>
              <a:rPr b="0">
                <a:solidFill>
                  <a:srgbClr val="475569"/>
                </a:solidFill>
              </a:rPr>
              <a:t>Minimizing Regulatory Capital Reserve subject to RBC Ratio ≥ 200% &amp; ERISA compliance.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FINANCIAL SUPPLY CHAIN &amp; DEMAND-SUPPLY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Direct Architectural Equivalence: Physical vs. Financial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Financial Demand-Supply Process Optimization | Applied AI &amp; Supply Chain Mathematical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3 / 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6304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926080"/>
                <a:gridCol w="3108960"/>
                <a:gridCol w="2590495"/>
              </a:tblGrid>
              <a:tr h="58293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Functional Dimension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Conventional Supply Chain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Financial / Insurance Enterprise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Applicable S&amp;OP Tool / Tech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Independent Demand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Retail point-of-sale orders, purchase requisitions, store replenishment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New policy applications, group contract renewals, voluntary benefit elections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284C7"/>
                          </a:solidFill>
                        </a:defRPr>
                      </a:pPr>
                      <a:r>
                        <a:t>Demand Sensing ML, Time-Series Ensembles, Econometric Forecasts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Dependent Demand (BOM)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Sub-assemblies, raw parts, packaging required per finished unit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Bonds, options, mortality reserves, and required capital per $1 premium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284C7"/>
                          </a:solidFill>
                        </a:defRPr>
                      </a:pPr>
                      <a:r>
                        <a:t>Linear Programming (LP), Exact Bill-of-Materials Decomposition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Fulfillment &amp; Supply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Factory production, logistics dispatch, contract manufacturing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Capital market bond purchases, index option hedges, reinsurance cessions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284C7"/>
                          </a:solidFill>
                        </a:defRPr>
                      </a:pPr>
                      <a:r>
                        <a:t>Capacity Allocation, Constrained Multi-Echelon Sourcing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Lead Time Uncertainty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Supplier transit variability, customs clearance, factory downtime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Underwriting medical record retrieval (APS/MIB), claims litigation delays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284C7"/>
                          </a:solidFill>
                        </a:defRPr>
                      </a:pPr>
                      <a:r>
                        <a:t>Cycle-Time Compression, Automated Agentic Workflow Extraction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Safety Stock Buffer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Safety inventory in regional warehouses to cover demand spikes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Risk-Based Capital (RBC) &amp; statutory reserves held against liability shocks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284C7"/>
                          </a:solidFill>
                        </a:defRPr>
                      </a:pPr>
                      <a:r>
                        <a:t>Multi-Echelon Inventory Optimization (MEIO), Monte Carlo ALM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Network Pooling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Consolidating 50 regional warehouses into regional DCs (√N rule)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Consolidating 49 states into National Entity (j=1) for covariance benefit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284C7"/>
                          </a:solidFill>
                        </a:defRPr>
                      </a:pPr>
                      <a:r>
                        <a:t>Mixed-Integer Linear Programming (MILP), Hub-and-Spoke Pooling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Pipeline Buffer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Work-In-Process (WIP) inventory on conveyor belts and in-transit trucks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Pipeline RBC: Capital tied up while claims/applications sit in manual queues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284C7"/>
                          </a:solidFill>
                        </a:defRPr>
                      </a:pPr>
                      <a:r>
                        <a:t>Queueing Theory, Little's Law (WIP = λ * W), Agentic AI Automation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FINANCIAL SUPPLY CHAIN &amp; DEMAND-SUPPLY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Financial BOM: Deconstructing Products into Capital Recipes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Financial Demand-Supply Process Optimization | Applied AI &amp; Supply Chain Mathematical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4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In manufacturing, an ERP Bill-of-Materials specifies: 1 Finished Unit = x lbs Steel + y Hours Labor + z Fasteners.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In insurance financial supply chains, every product is an exact financial recipe: $1.00 Premium = Fixed Income + Hedges + Loss Reserves + α_k Regulatory Safety Capital.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254203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240280"/>
            <a:ext cx="232257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RILA (Registered Index-Linked Annuity)</a:t>
            </a:r>
          </a:p>
          <a:p>
            <a:pPr>
              <a:spcBef>
                <a:spcPts val="200"/>
              </a:spcBef>
              <a:defRPr sz="950" b="1">
                <a:solidFill>
                  <a:srgbClr val="475569"/>
                </a:solidFill>
              </a:defRPr>
            </a:pPr>
            <a:r>
              <a:t>[Capital-Light / Growth]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————————————————————</a:t>
            </a:r>
          </a:p>
          <a:p>
            <a:pPr>
              <a:spcBef>
                <a:spcPts val="400"/>
              </a:spcBef>
              <a:defRPr sz="950" b="1">
                <a:solidFill>
                  <a:srgbClr val="0F172A"/>
                </a:solidFill>
              </a:defRPr>
            </a:pPr>
            <a:r>
              <a:t>Fixed Income Bonds: </a:t>
            </a:r>
            <a:r>
              <a:rPr b="1">
                <a:solidFill>
                  <a:srgbClr val="1E3A8A"/>
                </a:solidFill>
              </a:rPr>
              <a:t>$0.85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Principal guarantee base</a:t>
            </a:r>
          </a:p>
          <a:p>
            <a:pPr>
              <a:spcBef>
                <a:spcPts val="400"/>
              </a:spcBef>
              <a:defRPr sz="950" b="1">
                <a:solidFill>
                  <a:srgbClr val="0F172A"/>
                </a:solidFill>
              </a:defRPr>
            </a:pPr>
            <a:r>
              <a:t>Call Spread Options: </a:t>
            </a:r>
            <a:r>
              <a:rPr b="1">
                <a:solidFill>
                  <a:srgbClr val="1E3A8A"/>
                </a:solidFill>
              </a:rPr>
              <a:t>$0.08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Captures upside index growth</a:t>
            </a:r>
          </a:p>
          <a:p>
            <a:pPr>
              <a:spcBef>
                <a:spcPts val="400"/>
              </a:spcBef>
              <a:defRPr sz="950" b="1">
                <a:solidFill>
                  <a:srgbClr val="0F172A"/>
                </a:solidFill>
              </a:defRPr>
            </a:pPr>
            <a:r>
              <a:t>Buffer Protection Hedges: </a:t>
            </a:r>
            <a:r>
              <a:rPr b="1">
                <a:solidFill>
                  <a:srgbClr val="1E3A8A"/>
                </a:solidFill>
              </a:rPr>
              <a:t>$0.05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Downside loss buffer options</a:t>
            </a:r>
          </a:p>
          <a:p>
            <a:pPr>
              <a:spcBef>
                <a:spcPts val="400"/>
              </a:spcBef>
              <a:defRPr sz="950" b="1">
                <a:solidFill>
                  <a:srgbClr val="0F172A"/>
                </a:solidFill>
              </a:defRPr>
            </a:pPr>
            <a:r>
              <a:t>RBC Safety Stock (α₁): </a:t>
            </a:r>
            <a:r>
              <a:rPr b="1">
                <a:solidFill>
                  <a:srgbClr val="1E3A8A"/>
                </a:solidFill>
              </a:rPr>
              <a:t>$0.02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Very low regulatory capital requirement</a:t>
            </a:r>
          </a:p>
          <a:p>
            <a:pPr>
              <a:spcBef>
                <a:spcPts val="800"/>
              </a:spcBef>
              <a:defRPr sz="900" i="1" b="1">
                <a:solidFill>
                  <a:srgbClr val="0F172A"/>
                </a:solidFill>
              </a:defRPr>
            </a:pPr>
            <a:r>
              <a:t>Takeaway: High-growth, highly capital-efficient product engine.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2148840"/>
            <a:ext cx="254203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240280"/>
            <a:ext cx="232257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</a:defRPr>
            </a:pPr>
            <a:r>
              <a:t>FIA (Fixed Indexed Annuity)</a:t>
            </a:r>
          </a:p>
          <a:p>
            <a:pPr>
              <a:spcBef>
                <a:spcPts val="200"/>
              </a:spcBef>
              <a:defRPr sz="950" b="1">
                <a:solidFill>
                  <a:srgbClr val="475569"/>
                </a:solidFill>
              </a:defRPr>
            </a:pPr>
            <a:r>
              <a:t>[Principal Protected]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————————————————————</a:t>
            </a:r>
          </a:p>
          <a:p>
            <a:pPr>
              <a:spcBef>
                <a:spcPts val="400"/>
              </a:spcBef>
              <a:defRPr sz="950" b="1">
                <a:solidFill>
                  <a:srgbClr val="0F172A"/>
                </a:solidFill>
              </a:defRPr>
            </a:pPr>
            <a:r>
              <a:t>Long-Duration Bonds: </a:t>
            </a:r>
            <a:r>
              <a:rPr b="1">
                <a:solidFill>
                  <a:srgbClr val="0284C7"/>
                </a:solidFill>
              </a:rPr>
              <a:t>$0.90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Yield backing minimum guarantee</a:t>
            </a:r>
          </a:p>
          <a:p>
            <a:pPr>
              <a:spcBef>
                <a:spcPts val="400"/>
              </a:spcBef>
              <a:defRPr sz="950" b="1">
                <a:solidFill>
                  <a:srgbClr val="0F172A"/>
                </a:solidFill>
              </a:defRPr>
            </a:pPr>
            <a:r>
              <a:t>Index Options: </a:t>
            </a:r>
            <a:r>
              <a:rPr b="1">
                <a:solidFill>
                  <a:srgbClr val="0284C7"/>
                </a:solidFill>
              </a:rPr>
              <a:t>$0.06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Index participation return</a:t>
            </a:r>
          </a:p>
          <a:p>
            <a:pPr>
              <a:spcBef>
                <a:spcPts val="400"/>
              </a:spcBef>
              <a:defRPr sz="950" b="1">
                <a:solidFill>
                  <a:srgbClr val="0F172A"/>
                </a:solidFill>
              </a:defRPr>
            </a:pPr>
            <a:r>
              <a:t>Crediting Reserve: </a:t>
            </a:r>
            <a:r>
              <a:rPr b="1">
                <a:solidFill>
                  <a:srgbClr val="0284C7"/>
                </a:solidFill>
              </a:rPr>
              <a:t>$0.02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Minimum interest credit buffer</a:t>
            </a:r>
          </a:p>
          <a:p>
            <a:pPr>
              <a:spcBef>
                <a:spcPts val="400"/>
              </a:spcBef>
              <a:defRPr sz="950" b="1">
                <a:solidFill>
                  <a:srgbClr val="0F172A"/>
                </a:solidFill>
              </a:defRPr>
            </a:pPr>
            <a:r>
              <a:t>RBC Safety Stock (α₂): </a:t>
            </a:r>
            <a:r>
              <a:rPr b="1">
                <a:solidFill>
                  <a:srgbClr val="0284C7"/>
                </a:solidFill>
              </a:rPr>
              <a:t>$0.02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Low capital requirement under NAIC rules</a:t>
            </a:r>
          </a:p>
          <a:p>
            <a:pPr>
              <a:spcBef>
                <a:spcPts val="800"/>
              </a:spcBef>
              <a:defRPr sz="900" i="1" b="1">
                <a:solidFill>
                  <a:srgbClr val="0F172A"/>
                </a:solidFill>
              </a:defRPr>
            </a:pPr>
            <a:r>
              <a:t>Takeaway: Stable retail annuity volume with hedged market exposure.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2148840"/>
            <a:ext cx="254203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2240280"/>
            <a:ext cx="232257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D28D9"/>
                </a:solidFill>
              </a:defRPr>
            </a:pPr>
            <a:r>
              <a:t>Individual Life Insurance</a:t>
            </a:r>
          </a:p>
          <a:p>
            <a:pPr>
              <a:spcBef>
                <a:spcPts val="200"/>
              </a:spcBef>
              <a:defRPr sz="950" b="1">
                <a:solidFill>
                  <a:srgbClr val="475569"/>
                </a:solidFill>
              </a:defRPr>
            </a:pPr>
            <a:r>
              <a:t>[High Protection / High Capital]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————————————————————</a:t>
            </a:r>
          </a:p>
          <a:p>
            <a:pPr>
              <a:spcBef>
                <a:spcPts val="400"/>
              </a:spcBef>
              <a:defRPr sz="950" b="1">
                <a:solidFill>
                  <a:srgbClr val="0F172A"/>
                </a:solidFill>
              </a:defRPr>
            </a:pPr>
            <a:r>
              <a:t>Long-Term Treasuries/Credit: </a:t>
            </a:r>
            <a:r>
              <a:rPr b="1">
                <a:solidFill>
                  <a:srgbClr val="6D28D9"/>
                </a:solidFill>
              </a:rPr>
              <a:t>$0.70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Long-horizon cash matching</a:t>
            </a:r>
          </a:p>
          <a:p>
            <a:pPr>
              <a:spcBef>
                <a:spcPts val="400"/>
              </a:spcBef>
              <a:defRPr sz="950" b="1">
                <a:solidFill>
                  <a:srgbClr val="0F172A"/>
                </a:solidFill>
              </a:defRPr>
            </a:pPr>
            <a:r>
              <a:t>Mortality Reserve: </a:t>
            </a:r>
            <a:r>
              <a:rPr b="1">
                <a:solidFill>
                  <a:srgbClr val="6D28D9"/>
                </a:solidFill>
              </a:rPr>
              <a:t>$0.15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Statutory actuarial life reserve</a:t>
            </a:r>
          </a:p>
          <a:p>
            <a:pPr>
              <a:spcBef>
                <a:spcPts val="400"/>
              </a:spcBef>
              <a:defRPr sz="950" b="1">
                <a:solidFill>
                  <a:srgbClr val="0F172A"/>
                </a:solidFill>
              </a:defRPr>
            </a:pPr>
            <a:r>
              <a:t>Operating Administration: </a:t>
            </a:r>
            <a:r>
              <a:rPr b="1">
                <a:solidFill>
                  <a:srgbClr val="6D28D9"/>
                </a:solidFill>
              </a:rPr>
              <a:t>$0.05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Acquisition and maintenance</a:t>
            </a:r>
          </a:p>
          <a:p>
            <a:pPr>
              <a:spcBef>
                <a:spcPts val="400"/>
              </a:spcBef>
              <a:defRPr sz="950" b="1">
                <a:solidFill>
                  <a:srgbClr val="0F172A"/>
                </a:solidFill>
              </a:defRPr>
            </a:pPr>
            <a:r>
              <a:t>RBC Safety Stock (α₃): </a:t>
            </a:r>
            <a:r>
              <a:rPr b="1">
                <a:solidFill>
                  <a:srgbClr val="6D28D9"/>
                </a:solidFill>
              </a:rPr>
              <a:t>$0.10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High statutory capital intensity (5x RILA!)</a:t>
            </a:r>
          </a:p>
          <a:p>
            <a:pPr>
              <a:spcBef>
                <a:spcPts val="800"/>
              </a:spcBef>
              <a:defRPr sz="900" i="1" b="1">
                <a:solidFill>
                  <a:srgbClr val="0F172A"/>
                </a:solidFill>
              </a:defRPr>
            </a:pPr>
            <a:r>
              <a:t>Takeaway: Generates high spread income, but demands heavy capital.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2148840"/>
            <a:ext cx="254203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2240280"/>
            <a:ext cx="232257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6534"/>
                </a:solidFill>
              </a:defRPr>
            </a:pPr>
            <a:r>
              <a:t>Retirement Plan Services (401k)</a:t>
            </a:r>
          </a:p>
          <a:p>
            <a:pPr>
              <a:spcBef>
                <a:spcPts val="200"/>
              </a:spcBef>
              <a:defRPr sz="950" b="1">
                <a:solidFill>
                  <a:srgbClr val="475569"/>
                </a:solidFill>
              </a:defRPr>
            </a:pPr>
            <a:r>
              <a:t>[Fee-Based / Zero Balance Sheet]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————————————————————</a:t>
            </a:r>
          </a:p>
          <a:p>
            <a:pPr>
              <a:spcBef>
                <a:spcPts val="400"/>
              </a:spcBef>
              <a:defRPr sz="950" b="1">
                <a:solidFill>
                  <a:srgbClr val="0F172A"/>
                </a:solidFill>
              </a:defRPr>
            </a:pPr>
            <a:r>
              <a:t>Separate Account Asset: </a:t>
            </a:r>
            <a:r>
              <a:rPr b="1">
                <a:solidFill>
                  <a:srgbClr val="166534"/>
                </a:solidFill>
              </a:rPr>
              <a:t>$1.00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Legally segregated (ERISA mandated)</a:t>
            </a:r>
          </a:p>
          <a:p>
            <a:pPr>
              <a:spcBef>
                <a:spcPts val="400"/>
              </a:spcBef>
              <a:defRPr sz="950" b="1">
                <a:solidFill>
                  <a:srgbClr val="0F172A"/>
                </a:solidFill>
              </a:defRPr>
            </a:pPr>
            <a:r>
              <a:t>General Account Risk: </a:t>
            </a:r>
            <a:r>
              <a:rPr b="1">
                <a:solidFill>
                  <a:srgbClr val="166534"/>
                </a:solidFill>
              </a:rPr>
              <a:t>$0.00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No market risk on insurer balance sheet</a:t>
            </a:r>
          </a:p>
          <a:p>
            <a:pPr>
              <a:spcBef>
                <a:spcPts val="400"/>
              </a:spcBef>
              <a:defRPr sz="950" b="1">
                <a:solidFill>
                  <a:srgbClr val="0F172A"/>
                </a:solidFill>
              </a:defRPr>
            </a:pPr>
            <a:r>
              <a:t>Revenue Mechanism: </a:t>
            </a:r>
            <a:r>
              <a:rPr b="1">
                <a:solidFill>
                  <a:srgbClr val="166534"/>
                </a:solidFill>
              </a:rPr>
              <a:t>Fee Margin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Basis points on AUM + per-head fee</a:t>
            </a:r>
          </a:p>
          <a:p>
            <a:pPr>
              <a:spcBef>
                <a:spcPts val="400"/>
              </a:spcBef>
              <a:defRPr sz="950" b="1">
                <a:solidFill>
                  <a:srgbClr val="0F172A"/>
                </a:solidFill>
              </a:defRPr>
            </a:pPr>
            <a:r>
              <a:t>RBC Safety Stock (α₅): </a:t>
            </a:r>
            <a:r>
              <a:rPr b="1">
                <a:solidFill>
                  <a:srgbClr val="166534"/>
                </a:solidFill>
              </a:rPr>
              <a:t>$0.00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Zero general account RBC required!</a:t>
            </a:r>
          </a:p>
          <a:p>
            <a:pPr>
              <a:spcBef>
                <a:spcPts val="800"/>
              </a:spcBef>
              <a:defRPr sz="900" i="1" b="1">
                <a:solidFill>
                  <a:srgbClr val="0F172A"/>
                </a:solidFill>
              </a:defRPr>
            </a:pPr>
            <a:r>
              <a:t>Takeaway: Pure capital-light annuity: infinite return on regulatory capital.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FINANCIAL SUPPLY CHAIN &amp; DEMAND-SUPPLY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Multi-Echelon Risk Pooling: The √N Square-Root Law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Financial Demand-Supply Process Optimization | Applied AI &amp; Supply Chain Mathematical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5 /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96012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THE MATHEMATICAL EQUATION OF JURISDICTIONAL POOLING: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</a:defRPr>
            </a:pPr>
            <a:r>
              <a:t>In inventory theory: Total Safety Stock for N independent sites = √N · SS_local. Pooling 49 regional nodes into 1 central hub shrinks total demand variance by √49 = 7.0x! This identical math governs insurance capital allocation between j=1 (National 49 States) and j=2 (New York State).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3429000" cy="3703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51760"/>
            <a:ext cx="3154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Node j=1: National Entity (49 States)</a:t>
            </a:r>
          </a:p>
          <a:p>
            <a:pPr>
              <a:spcBef>
                <a:spcPts val="200"/>
              </a:spcBef>
              <a:defRPr sz="1000" i="1">
                <a:solidFill>
                  <a:srgbClr val="475569"/>
                </a:solidFill>
              </a:defRPr>
            </a:pPr>
            <a:r>
              <a:t>The Centralized Hub (Mega-Pool)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——————————————————————————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Scale: 49 states combined under NAIC model law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Pooling Benefit: Variance reduced 7x (√49 diversification benefit)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Product Mix: Holds all 5 Product BOMs (k=1..5)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Safety Stock Rate: Lowest RBC per dollar of premium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Optimization Role: PRIMARY capital optimization target node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2514600"/>
            <a:ext cx="3429000" cy="3703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2651760"/>
            <a:ext cx="3154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D28D9"/>
                </a:solidFill>
              </a:defRPr>
            </a:pPr>
            <a:r>
              <a:t>Node j=2: State Entity (New York Only)</a:t>
            </a:r>
          </a:p>
          <a:p>
            <a:pPr>
              <a:spcBef>
                <a:spcPts val="200"/>
              </a:spcBef>
              <a:defRPr sz="1000" i="1">
                <a:solidFill>
                  <a:srgbClr val="475569"/>
                </a:solidFill>
              </a:defRPr>
            </a:pPr>
            <a:r>
              <a:t>The Fragmented Satellite (High-Cost)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——————————————————————————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Constraint: Strict NY Department of Financial Services (DFS) regulations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Disadvantage: Tiny single-state pool -&gt; High variance -&gt; High RBC per dollar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Strategic Rule: Kept deliberately THIN (minimum required volume)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Inter-Node Edge (D1): Cede NY tail risk to j=1 via internal reinsurance treaty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Optimization Role: Shift maximum permissible volume &amp; risk to j=1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2" y="2514600"/>
            <a:ext cx="3429000" cy="3703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651760"/>
            <a:ext cx="3154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6534"/>
                </a:solidFill>
              </a:defRPr>
            </a:pPr>
            <a:r>
              <a:t>External Nodes: Markets &amp; Reinsurance</a:t>
            </a:r>
          </a:p>
          <a:p>
            <a:pPr>
              <a:spcBef>
                <a:spcPts val="200"/>
              </a:spcBef>
              <a:defRPr sz="1000" i="1">
                <a:solidFill>
                  <a:srgbClr val="475569"/>
                </a:solidFill>
              </a:defRPr>
            </a:pPr>
            <a:r>
              <a:t>Supply Inflow &amp; Risk Sink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——————————————————————————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Customer Node: Source of premium inflow; sink of claims &amp; annuities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Capital Markets: Source of asset supply (bonds, options yield)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Reinsurer Node: External global risk pool &amp; 'RBC byproduct recycler'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Optimization Goal: Cede excess tail risk to reinsurers to free trapped capital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Network Solvency: Ensures total company RBC Ratio ≥ 200% at all times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FINANCIAL SUPPLY CHAIN &amp; DEMAND-SUPPLY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How Conventional S&amp;OP Planning Levers Apply to Capital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Financial Demand-Supply Process Optimization | Applied AI &amp; Supply Chain Mathematical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6 /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7772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38BDF8"/>
                </a:solidFill>
              </a:defRPr>
            </a:pPr>
            <a:r>
              <a:t>MATHEMATICAL FORMULATION (MILP):   min Σ_j Σ_k ( α_k · V_j,k )   s.t.  RBC Ratio ≥ 200%,  ALM Cash-Flow Match,  ERISA Segregation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31720"/>
            <a:ext cx="521208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493776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Lever 1: Demand &amp; Risk Pooling (Network Design)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Supply Chain Origin: </a:t>
            </a:r>
            <a:r>
              <a:rPr b="0">
                <a:solidFill>
                  <a:srgbClr val="475569"/>
                </a:solidFill>
              </a:rPr>
              <a:t>Consolidating fragmented regional warehouses to eliminate redundant safety stock.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Financial Application: </a:t>
            </a:r>
            <a:r>
              <a:rPr b="0">
                <a:solidFill>
                  <a:srgbClr val="475569"/>
                </a:solidFill>
              </a:rPr>
              <a:t>Route maximum allowable policy volume into Node j=1 (National 49-state entity).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Business Impact: </a:t>
            </a:r>
            <a:r>
              <a:rPr b="0">
                <a:solidFill>
                  <a:srgbClr val="475569"/>
                </a:solidFill>
              </a:rPr>
              <a:t>Harnesses natural demographic &amp; geographic diversification to slash required reserve buffers by up to 7x.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2331720"/>
            <a:ext cx="521208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5255" y="2423160"/>
            <a:ext cx="493776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2410C"/>
                </a:solidFill>
              </a:defRPr>
            </a:pPr>
            <a:r>
              <a:t>Lever 2: Dynamic Cession &amp; Sourcing (Capacity Allocation)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Supply Chain Origin: </a:t>
            </a:r>
            <a:r>
              <a:rPr b="0">
                <a:solidFill>
                  <a:srgbClr val="475569"/>
                </a:solidFill>
              </a:rPr>
              <a:t>Using contract manufacturing or third-party logistics (3PL) to absorb peak demand surges.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Financial Application: </a:t>
            </a:r>
            <a:r>
              <a:rPr b="0">
                <a:solidFill>
                  <a:srgbClr val="475569"/>
                </a:solidFill>
              </a:rPr>
              <a:t>Structure dynamic internal risk cession treaties (D1 from j=2 to j=1) and external reinsurance.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Business Impact: </a:t>
            </a:r>
            <a:r>
              <a:rPr b="0">
                <a:solidFill>
                  <a:srgbClr val="475569"/>
                </a:solidFill>
              </a:rPr>
              <a:t>Keeps capital-inefficient balance sheets (like NY) lean while recycling regulatory capital through global reinsurers.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43400"/>
            <a:ext cx="521208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434840"/>
            <a:ext cx="493776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6534"/>
                </a:solidFill>
              </a:defRPr>
            </a:pPr>
            <a:r>
              <a:t>Lever 3: Product Mix Optimization (Portfolio S&amp;OP)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Supply Chain Origin: </a:t>
            </a:r>
            <a:r>
              <a:rPr b="0">
                <a:solidFill>
                  <a:srgbClr val="475569"/>
                </a:solidFill>
              </a:rPr>
              <a:t>Promoting high-margin, fast-turning SKUs that tie up minimal working capital.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Financial Application: </a:t>
            </a:r>
            <a:r>
              <a:rPr b="0">
                <a:solidFill>
                  <a:srgbClr val="475569"/>
                </a:solidFill>
              </a:rPr>
              <a:t>Strategically grow low-α_k products (RILA, Group Protection, and zero-RBC RPS/401k plans).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Business Impact: </a:t>
            </a:r>
            <a:r>
              <a:rPr b="0">
                <a:solidFill>
                  <a:srgbClr val="475569"/>
                </a:solidFill>
              </a:rPr>
              <a:t>Dramatically lifts Return on Equity (ROE) by expanding revenue without demanding proportional balance sheet capital.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095" y="4343400"/>
            <a:ext cx="521208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5255" y="4434840"/>
            <a:ext cx="493776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D28D9"/>
                </a:solidFill>
              </a:defRPr>
            </a:pPr>
            <a:r>
              <a:t>Lever 4: AI Lead-Time Compression (Pipeline Inventory Reduction)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Supply Chain Origin: </a:t>
            </a:r>
            <a:r>
              <a:rPr b="0">
                <a:solidFill>
                  <a:srgbClr val="475569"/>
                </a:solidFill>
              </a:rPr>
              <a:t>Little's Law: WIP Inventory = Throughput Rate (λ) × Lead Time (W). Shorter cycle times shrink WIP.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Financial Application: </a:t>
            </a:r>
            <a:r>
              <a:rPr b="0">
                <a:solidFill>
                  <a:srgbClr val="475569"/>
                </a:solidFill>
              </a:rPr>
              <a:t>Deploy Agentic AI and RAG to accelerate Underwriting &amp; Claims settlement from weeks to hours.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Business Impact: </a:t>
            </a:r>
            <a:r>
              <a:rPr b="0">
                <a:solidFill>
                  <a:srgbClr val="475569"/>
                </a:solidFill>
              </a:rPr>
              <a:t>A 4x speedup in case resolution directly cuts pipeline capital (pipeline RBC) by ~75%.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FINANCIAL SUPPLY CHAIN &amp; DEMAND-SUPPLY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Operational Enabler: AI as Catalyst, Not an Extra Node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Financial Demand-Supply Process Optimization | Applied AI &amp; Supply Chain Mathematical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7 /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86868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2410C"/>
                </a:solidFill>
              </a:defRPr>
            </a:pPr>
            <a:r>
              <a:t>STRATEGIC ARCHITECTURE PRINCIPLE: AI IS A CATALYST, NOT AN EXTRA NODE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In chemical engineering and operations research, a catalyst accelerates internal reaction rates without consuming mass or altering network topology. AI accelerates human decision velocity inside existing nodes — cutting lead times, eliminating bottlenecks, and collapsing pipeline safety stock.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23160"/>
            <a:ext cx="3429000" cy="3794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560320"/>
            <a:ext cx="3154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1. Accelerated Underwriting Review</a:t>
            </a:r>
          </a:p>
          <a:p>
            <a:pPr>
              <a:spcBef>
                <a:spcPts val="200"/>
              </a:spcBef>
              <a:defRPr sz="1000" i="1">
                <a:solidFill>
                  <a:srgbClr val="475569"/>
                </a:solidFill>
              </a:defRPr>
            </a:pPr>
            <a:r>
              <a:t>Ingestion &amp; Classification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——————————————————————————</a:t>
            </a:r>
          </a:p>
          <a:p>
            <a:pPr>
              <a:spcBef>
                <a:spcPts val="500"/>
              </a:spcBef>
              <a:defRPr sz="950" b="1">
                <a:solidFill>
                  <a:srgbClr val="0F172A"/>
                </a:solidFill>
              </a:defRPr>
            </a:pPr>
            <a:r>
              <a:t>The Bottleneck: </a:t>
            </a:r>
            <a:r>
              <a:rPr b="0">
                <a:solidFill>
                  <a:srgbClr val="475569"/>
                </a:solidFill>
              </a:rPr>
              <a:t>Human underwriters spend 70% of time reading 100-page medical packets (APS/MIB records).</a:t>
            </a:r>
          </a:p>
          <a:p>
            <a:pPr>
              <a:spcBef>
                <a:spcPts val="500"/>
              </a:spcBef>
              <a:defRPr sz="950" b="1">
                <a:solidFill>
                  <a:srgbClr val="0F172A"/>
                </a:solidFill>
              </a:defRPr>
            </a:pPr>
            <a:r>
              <a:t>The AI Catalyst: </a:t>
            </a:r>
            <a:r>
              <a:rPr b="0">
                <a:solidFill>
                  <a:srgbClr val="475569"/>
                </a:solidFill>
              </a:rPr>
              <a:t>Agentic document extraction extracts biometric trends, calculates BMI/HbA1c risk debits in seconds.</a:t>
            </a:r>
          </a:p>
          <a:p>
            <a:pPr>
              <a:spcBef>
                <a:spcPts val="500"/>
              </a:spcBef>
              <a:defRPr sz="950" b="1">
                <a:solidFill>
                  <a:srgbClr val="0F172A"/>
                </a:solidFill>
              </a:defRPr>
            </a:pPr>
            <a:r>
              <a:t>Quantified Impact: </a:t>
            </a:r>
            <a:r>
              <a:rPr b="0">
                <a:solidFill>
                  <a:srgbClr val="475569"/>
                </a:solidFill>
              </a:rPr>
              <a:t>4x faster underwriting turnaround; application-to-issue cycle compressed from 28 days to 24 hours.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2423160"/>
            <a:ext cx="3429000" cy="3794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2560320"/>
            <a:ext cx="3154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D28D9"/>
                </a:solidFill>
              </a:defRPr>
            </a:pPr>
            <a:r>
              <a:t>2. Claims Settlement &amp; Triage</a:t>
            </a:r>
          </a:p>
          <a:p>
            <a:pPr>
              <a:spcBef>
                <a:spcPts val="200"/>
              </a:spcBef>
              <a:defRPr sz="1000" i="1">
                <a:solidFill>
                  <a:srgbClr val="475569"/>
                </a:solidFill>
              </a:defRPr>
            </a:pPr>
            <a:r>
              <a:t>Pipeline Inventory Reduction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——————————————————————————</a:t>
            </a:r>
          </a:p>
          <a:p>
            <a:pPr>
              <a:spcBef>
                <a:spcPts val="500"/>
              </a:spcBef>
              <a:defRPr sz="950" b="1">
                <a:solidFill>
                  <a:srgbClr val="0F172A"/>
                </a:solidFill>
              </a:defRPr>
            </a:pPr>
            <a:r>
              <a:t>The Bottleneck: </a:t>
            </a:r>
            <a:r>
              <a:rPr b="0">
                <a:solidFill>
                  <a:srgbClr val="475569"/>
                </a:solidFill>
              </a:rPr>
              <a:t>Contestability investigations and complex death/disability claims backlog tie up huge reserve buffers.</a:t>
            </a:r>
          </a:p>
          <a:p>
            <a:pPr>
              <a:spcBef>
                <a:spcPts val="500"/>
              </a:spcBef>
              <a:defRPr sz="950" b="1">
                <a:solidFill>
                  <a:srgbClr val="0F172A"/>
                </a:solidFill>
              </a:defRPr>
            </a:pPr>
            <a:r>
              <a:t>The AI Catalyst: </a:t>
            </a:r>
            <a:r>
              <a:rPr b="0">
                <a:solidFill>
                  <a:srgbClr val="475569"/>
                </a:solidFill>
              </a:rPr>
              <a:t>5-gate RAG copilot retrieves exact policy riders, validates evidence, and drafts human-in-the-loop audit packets.</a:t>
            </a:r>
          </a:p>
          <a:p>
            <a:pPr>
              <a:spcBef>
                <a:spcPts val="500"/>
              </a:spcBef>
              <a:defRPr sz="950" b="1">
                <a:solidFill>
                  <a:srgbClr val="0F172A"/>
                </a:solidFill>
              </a:defRPr>
            </a:pPr>
            <a:r>
              <a:t>Quantified Impact: </a:t>
            </a:r>
            <a:r>
              <a:rPr b="0">
                <a:solidFill>
                  <a:srgbClr val="475569"/>
                </a:solidFill>
              </a:rPr>
              <a:t>4x claim throughput; reduces 'pipeline RBC' (capital trapped in transit) by ~75%.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2" y="2423160"/>
            <a:ext cx="3429000" cy="3794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560320"/>
            <a:ext cx="3154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6534"/>
                </a:solidFill>
              </a:defRPr>
            </a:pPr>
            <a:r>
              <a:t>3. The 'Financial World Model'</a:t>
            </a:r>
          </a:p>
          <a:p>
            <a:pPr>
              <a:spcBef>
                <a:spcPts val="200"/>
              </a:spcBef>
              <a:defRPr sz="1000" i="1">
                <a:solidFill>
                  <a:srgbClr val="475569"/>
                </a:solidFill>
              </a:defRPr>
            </a:pPr>
            <a:r>
              <a:t>Predictive S&amp;OP Digital Twin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——————————————————————————</a:t>
            </a:r>
          </a:p>
          <a:p>
            <a:pPr>
              <a:spcBef>
                <a:spcPts val="500"/>
              </a:spcBef>
              <a:defRPr sz="950" b="1">
                <a:solidFill>
                  <a:srgbClr val="0F172A"/>
                </a:solidFill>
              </a:defRPr>
            </a:pPr>
            <a:r>
              <a:t>The Bottleneck: </a:t>
            </a:r>
            <a:r>
              <a:rPr b="0">
                <a:solidFill>
                  <a:srgbClr val="475569"/>
                </a:solidFill>
              </a:rPr>
              <a:t>Actuarial ALM models rely on lagging quarterly spreadsheet assumptions and static mortality tables.</a:t>
            </a:r>
          </a:p>
          <a:p>
            <a:pPr>
              <a:spcBef>
                <a:spcPts val="500"/>
              </a:spcBef>
              <a:defRPr sz="950" b="1">
                <a:solidFill>
                  <a:srgbClr val="0F172A"/>
                </a:solidFill>
              </a:defRPr>
            </a:pPr>
            <a:r>
              <a:t>The AI Catalyst: </a:t>
            </a:r>
            <a:r>
              <a:rPr b="0">
                <a:solidFill>
                  <a:srgbClr val="475569"/>
                </a:solidFill>
              </a:rPr>
              <a:t>End-to-end discrete event simulation from application intake → biometric trend → ALM cash flow → payout.</a:t>
            </a:r>
          </a:p>
          <a:p>
            <a:pPr>
              <a:spcBef>
                <a:spcPts val="500"/>
              </a:spcBef>
              <a:defRPr sz="950" b="1">
                <a:solidFill>
                  <a:srgbClr val="0F172A"/>
                </a:solidFill>
              </a:defRPr>
            </a:pPr>
            <a:r>
              <a:t>Quantified Impact: </a:t>
            </a:r>
            <a:r>
              <a:rPr b="0">
                <a:solidFill>
                  <a:srgbClr val="475569"/>
                </a:solidFill>
              </a:rPr>
              <a:t>Simulates 10,000+ macroeconomic shock paths dynamically; enables real-time capital stress testing.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FINANCIAL SUPPLY CHAIN &amp; DEMAND-SUPPLY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Executive Summary: The Value of Operations Science in Finance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Financial Demand-Supply Process Optimization | Applied AI &amp; Supply Chain Mathematical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8 /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2900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3154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What Conventional S&amp;OP Brings to Finance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——————————————————————————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Rigorous Mathematical Framing: </a:t>
            </a:r>
            <a:r>
              <a:rPr b="0">
                <a:solidFill>
                  <a:srgbClr val="475569"/>
                </a:solidFill>
              </a:rPr>
              <a:t>Transforms traditional actuarial rules-of-thumb into formal constrained network optimization (MILP).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Multi-Echelon Visibility: </a:t>
            </a:r>
            <a:r>
              <a:rPr b="0">
                <a:solidFill>
                  <a:srgbClr val="475569"/>
                </a:solidFill>
              </a:rPr>
              <a:t>Unifies customer policy demand, internal jurisdiction routing, and capital market yield supply into one transparent data model.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Variance Minimization: </a:t>
            </a:r>
            <a:r>
              <a:rPr b="0">
                <a:solidFill>
                  <a:srgbClr val="475569"/>
                </a:solidFill>
              </a:rPr>
              <a:t>Applies proven statistical inventory pooling (√N law) to eliminate multi-million dollar capital buffers.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1371600"/>
            <a:ext cx="342900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1508760"/>
            <a:ext cx="3154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2410C"/>
                </a:solidFill>
              </a:defRPr>
            </a:pPr>
            <a:r>
              <a:t>What Modern Applied AI Delivers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——————————————————————————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Human-in-the-Loop Exoskeleton: </a:t>
            </a:r>
            <a:r>
              <a:rPr b="0">
                <a:solidFill>
                  <a:srgbClr val="475569"/>
                </a:solidFill>
              </a:rPr>
              <a:t>Augments underwriters and actuaries; cuts manual processing lead-times by 75% without compromising compliance.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Zero-Hallucination Grounding (RAG): </a:t>
            </a:r>
            <a:r>
              <a:rPr b="0">
                <a:solidFill>
                  <a:srgbClr val="475569"/>
                </a:solidFill>
              </a:rPr>
              <a:t>5-gate verification ensures 100% auditability and regulatory compliance for every automated decision.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Dynamic World Model Simulation: </a:t>
            </a:r>
            <a:r>
              <a:rPr b="0">
                <a:solidFill>
                  <a:srgbClr val="475569"/>
                </a:solidFill>
              </a:rPr>
              <a:t>Replaces static annual reviews with real-time Monte Carlo scenario evaluation.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1371600"/>
            <a:ext cx="342900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1508760"/>
            <a:ext cx="3154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66534"/>
                </a:solidFill>
              </a:defRPr>
            </a:pPr>
            <a:r>
              <a:t>The Enterprise Bottom-Line Payoff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——————————————————————————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Higher Return on Equity (ROE): </a:t>
            </a:r>
            <a:r>
              <a:rPr b="0">
                <a:solidFill>
                  <a:srgbClr val="475569"/>
                </a:solidFill>
              </a:rPr>
              <a:t>Releasing redundant safety capital directly amplifies shareholder profitability.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Elastic Scalability: </a:t>
            </a:r>
            <a:r>
              <a:rPr b="0">
                <a:solidFill>
                  <a:srgbClr val="475569"/>
                </a:solidFill>
              </a:rPr>
              <a:t>Enables 4x new business volume growth with zero proportional increase in administrative headcount.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Unshakable Balance Sheet Resilience: </a:t>
            </a:r>
            <a:r>
              <a:rPr b="0">
                <a:solidFill>
                  <a:srgbClr val="475569"/>
                </a:solidFill>
              </a:rPr>
              <a:t>Pre-tested against severe market shocks through continuous stochastic demand-supply balancing.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86400"/>
            <a:ext cx="10728655" cy="7772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532120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CONCLUSION: Supply Chain Optimization and Financial Engineering are the same science in different clothing.</a:t>
            </a:r>
          </a:p>
          <a:p>
            <a:pPr algn="ctr">
              <a:spcBef>
                <a:spcPts val="200"/>
              </a:spcBef>
              <a:defRPr sz="1000">
                <a:solidFill>
                  <a:srgbClr val="93C5FD"/>
                </a:solidFill>
              </a:defRPr>
            </a:pPr>
            <a:r>
              <a:t>By applying rigorous S&amp;OP demand-supply modeling and Applied AI catalysts to capital allocation, financial institutions achieve unprecedented balance sheet efficiency and operational velocity.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